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2" r:id="rId4"/>
    <p:sldId id="263" r:id="rId5"/>
    <p:sldId id="264" r:id="rId6"/>
    <p:sldId id="259" r:id="rId7"/>
    <p:sldId id="258" r:id="rId8"/>
    <p:sldId id="260" r:id="rId9"/>
    <p:sldId id="261"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9" d="100"/>
          <a:sy n="69" d="100"/>
        </p:scale>
        <p:origin x="564"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9/7/2026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9/7/2026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9/7/2026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9/7/2026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9/7/2026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30966-7705-931C-9AB0-F8608B18E00D}"/>
              </a:ext>
            </a:extLst>
          </p:cNvPr>
          <p:cNvSpPr>
            <a:spLocks noGrp="1"/>
          </p:cNvSpPr>
          <p:nvPr>
            <p:ph type="ctrTitle"/>
          </p:nvPr>
        </p:nvSpPr>
        <p:spPr/>
        <p:txBody>
          <a:bodyPr/>
          <a:lstStyle/>
          <a:p>
            <a:r>
              <a:rPr lang="en-IN" sz="4000" b="1" dirty="0">
                <a:solidFill>
                  <a:schemeClr val="bg2">
                    <a:lumMod val="25000"/>
                  </a:schemeClr>
                </a:solidFill>
              </a:rPr>
              <a:t>FINAL INTERNSHIP PROJECT REPORT</a:t>
            </a:r>
            <a:br>
              <a:rPr lang="en-US" sz="4000" dirty="0"/>
            </a:br>
            <a:endParaRPr lang="en-US" sz="4000" dirty="0"/>
          </a:p>
        </p:txBody>
      </p:sp>
      <p:sp>
        <p:nvSpPr>
          <p:cNvPr id="3" name="Subtitle 2">
            <a:extLst>
              <a:ext uri="{FF2B5EF4-FFF2-40B4-BE49-F238E27FC236}">
                <a16:creationId xmlns:a16="http://schemas.microsoft.com/office/drawing/2014/main" id="{5BEF6D54-FDBE-E20B-12E3-74C37B5CD20C}"/>
              </a:ext>
            </a:extLst>
          </p:cNvPr>
          <p:cNvSpPr>
            <a:spLocks noGrp="1"/>
          </p:cNvSpPr>
          <p:nvPr>
            <p:ph type="subTitle" idx="1"/>
          </p:nvPr>
        </p:nvSpPr>
        <p:spPr/>
        <p:txBody>
          <a:bodyPr/>
          <a:lstStyle/>
          <a:p>
            <a:r>
              <a:rPr lang="en-IN" b="1" dirty="0">
                <a:solidFill>
                  <a:schemeClr val="bg2">
                    <a:lumMod val="25000"/>
                  </a:schemeClr>
                </a:solidFill>
              </a:rPr>
              <a:t>Job Skill Extraction and Normalization Using NLP and Machine Learning</a:t>
            </a:r>
            <a:endParaRPr lang="en-US" dirty="0">
              <a:solidFill>
                <a:schemeClr val="bg2">
                  <a:lumMod val="25000"/>
                </a:schemeClr>
              </a:solidFill>
            </a:endParaRPr>
          </a:p>
          <a:p>
            <a:endParaRPr lang="en-US" dirty="0">
              <a:solidFill>
                <a:schemeClr val="bg2">
                  <a:lumMod val="25000"/>
                </a:schemeClr>
              </a:solidFill>
            </a:endParaRPr>
          </a:p>
        </p:txBody>
      </p:sp>
    </p:spTree>
    <p:extLst>
      <p:ext uri="{BB962C8B-B14F-4D97-AF65-F5344CB8AC3E}">
        <p14:creationId xmlns:p14="http://schemas.microsoft.com/office/powerpoint/2010/main" val="903892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DF51F3-2FFB-CFD8-52C1-2928D6EEF69A}"/>
              </a:ext>
            </a:extLst>
          </p:cNvPr>
          <p:cNvSpPr txBox="1"/>
          <p:nvPr/>
        </p:nvSpPr>
        <p:spPr>
          <a:xfrm>
            <a:off x="3149600" y="644199"/>
            <a:ext cx="6096000" cy="707886"/>
          </a:xfrm>
          <a:prstGeom prst="rect">
            <a:avLst/>
          </a:prstGeom>
          <a:noFill/>
        </p:spPr>
        <p:txBody>
          <a:bodyPr wrap="square">
            <a:spAutoFit/>
          </a:bodyPr>
          <a:lstStyle/>
          <a:p>
            <a:pPr algn="ctr"/>
            <a:r>
              <a:rPr lang="en-US" sz="4000" b="1" i="1" u="sng" dirty="0">
                <a:solidFill>
                  <a:schemeClr val="bg2">
                    <a:lumMod val="25000"/>
                  </a:schemeClr>
                </a:solidFill>
              </a:rPr>
              <a:t>Introduction</a:t>
            </a:r>
          </a:p>
        </p:txBody>
      </p:sp>
      <p:sp>
        <p:nvSpPr>
          <p:cNvPr id="5" name="TextBox 4">
            <a:extLst>
              <a:ext uri="{FF2B5EF4-FFF2-40B4-BE49-F238E27FC236}">
                <a16:creationId xmlns:a16="http://schemas.microsoft.com/office/drawing/2014/main" id="{FDBFE89F-0C6B-547B-8E9D-F89152BBD00C}"/>
              </a:ext>
            </a:extLst>
          </p:cNvPr>
          <p:cNvSpPr txBox="1"/>
          <p:nvPr/>
        </p:nvSpPr>
        <p:spPr>
          <a:xfrm>
            <a:off x="1505527" y="2022757"/>
            <a:ext cx="10215418" cy="2159566"/>
          </a:xfrm>
          <a:prstGeom prst="rect">
            <a:avLst/>
          </a:prstGeom>
          <a:noFill/>
        </p:spPr>
        <p:txBody>
          <a:bodyPr wrap="square">
            <a:spAutoFit/>
          </a:bodyPr>
          <a:lstStyle/>
          <a:p>
            <a:pPr marL="0" marR="0">
              <a:lnSpc>
                <a:spcPct val="100000"/>
              </a:lnSpc>
              <a:spcAft>
                <a:spcPts val="1000"/>
              </a:spcAft>
              <a:buNone/>
            </a:pPr>
            <a:r>
              <a:rPr lang="en-US" sz="1800" dirty="0">
                <a:effectLst/>
                <a:latin typeface="+mn-lt"/>
                <a:ea typeface="MS Mincho" panose="02020609040205080304" pitchFamily="49" charset="-128"/>
                <a:cs typeface="Times New Roman" panose="02020603050405020304" pitchFamily="18" charset="0"/>
              </a:rPr>
              <a:t>Job descriptions contain important information about roles, qualifications and technical requirements. Manual identification of skills is time-consuming and can be inconsistent. This project applies Natural Language Processing (NLP) to automatically identify technical skills from job descriptions and organize them into meaningful categories.</a:t>
            </a:r>
          </a:p>
          <a:p>
            <a:pPr marL="0" marR="0">
              <a:lnSpc>
                <a:spcPct val="100000"/>
              </a:lnSpc>
              <a:spcAft>
                <a:spcPts val="1000"/>
              </a:spcAft>
              <a:buNone/>
            </a:pPr>
            <a:r>
              <a:rPr lang="en-US" sz="1800" dirty="0">
                <a:effectLst/>
                <a:latin typeface="+mn-lt"/>
                <a:ea typeface="MS Mincho" panose="02020609040205080304" pitchFamily="49" charset="-128"/>
                <a:cs typeface="Times New Roman" panose="02020603050405020304" pitchFamily="18" charset="0"/>
              </a:rPr>
              <a:t>The project follows a progressive workflow from data understanding and cleaning to rule-based extraction, statistical NLP, semantic techniques, machine learning, normalization, analytics and application development.</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3688133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12CDCF-7D0E-6C0E-74EA-889FC056276A}"/>
              </a:ext>
            </a:extLst>
          </p:cNvPr>
          <p:cNvSpPr txBox="1"/>
          <p:nvPr/>
        </p:nvSpPr>
        <p:spPr>
          <a:xfrm>
            <a:off x="3168072" y="608468"/>
            <a:ext cx="6096000" cy="707886"/>
          </a:xfrm>
          <a:prstGeom prst="rect">
            <a:avLst/>
          </a:prstGeom>
          <a:noFill/>
        </p:spPr>
        <p:txBody>
          <a:bodyPr wrap="square">
            <a:spAutoFit/>
          </a:bodyPr>
          <a:lstStyle/>
          <a:p>
            <a:pPr marR="0" algn="ctr">
              <a:lnSpc>
                <a:spcPct val="100000"/>
              </a:lnSpc>
              <a:spcBef>
                <a:spcPts val="2400"/>
              </a:spcBef>
              <a:buNone/>
            </a:pPr>
            <a:r>
              <a:rPr lang="en-US" sz="4000" b="1" i="1" u="sng" dirty="0">
                <a:solidFill>
                  <a:schemeClr val="bg2">
                    <a:lumMod val="25000"/>
                  </a:schemeClr>
                </a:solidFill>
              </a:rPr>
              <a:t>Project Scope &amp; Use Case</a:t>
            </a:r>
          </a:p>
        </p:txBody>
      </p:sp>
      <p:sp>
        <p:nvSpPr>
          <p:cNvPr id="5" name="TextBox 4">
            <a:extLst>
              <a:ext uri="{FF2B5EF4-FFF2-40B4-BE49-F238E27FC236}">
                <a16:creationId xmlns:a16="http://schemas.microsoft.com/office/drawing/2014/main" id="{8CF1933F-6058-90BB-975F-62882AC9B7D4}"/>
              </a:ext>
            </a:extLst>
          </p:cNvPr>
          <p:cNvSpPr txBox="1"/>
          <p:nvPr/>
        </p:nvSpPr>
        <p:spPr>
          <a:xfrm>
            <a:off x="1884218" y="2385781"/>
            <a:ext cx="6899564" cy="2585323"/>
          </a:xfrm>
          <a:prstGeom prst="rect">
            <a:avLst/>
          </a:prstGeom>
          <a:noFill/>
        </p:spPr>
        <p:txBody>
          <a:bodyPr wrap="square">
            <a:spAutoFit/>
          </a:bodyPr>
          <a:lstStyle/>
          <a:p>
            <a:pPr marL="342900" marR="0" lvl="0" indent="-342900">
              <a:lnSpc>
                <a:spcPct val="100000"/>
              </a:lnSpc>
              <a:buFont typeface="Symbol" panose="05050102010706020507" pitchFamily="18" charset="2"/>
              <a:buChar char=""/>
              <a:tabLst>
                <a:tab pos="228600" algn="l"/>
              </a:tabLst>
            </a:pPr>
            <a:r>
              <a:rPr lang="en-US" sz="1800" dirty="0">
                <a:effectLst/>
                <a:latin typeface="+mn-lt"/>
                <a:ea typeface="MS Mincho" panose="02020609040205080304" pitchFamily="49" charset="-128"/>
                <a:cs typeface="Times New Roman" panose="02020603050405020304" pitchFamily="18" charset="0"/>
              </a:rPr>
              <a:t>Recruitment and job-market analytics</a:t>
            </a:r>
          </a:p>
          <a:p>
            <a:pPr marR="0" lvl="0">
              <a:lnSpc>
                <a:spcPct val="100000"/>
              </a:lnSpc>
              <a:tabLst>
                <a:tab pos="228600" algn="l"/>
              </a:tabLst>
            </a:pPr>
            <a:endParaRPr lang="en-US" sz="1800" dirty="0">
              <a:effectLst/>
              <a:latin typeface="+mn-lt"/>
              <a:ea typeface="MS Mincho" panose="02020609040205080304" pitchFamily="49" charset="-128"/>
              <a:cs typeface="Times New Roman" panose="02020603050405020304" pitchFamily="18" charset="0"/>
            </a:endParaRPr>
          </a:p>
          <a:p>
            <a:pPr marL="342900" marR="0" lvl="0" indent="-342900">
              <a:lnSpc>
                <a:spcPct val="100000"/>
              </a:lnSpc>
              <a:buFont typeface="Symbol" panose="05050102010706020507" pitchFamily="18" charset="2"/>
              <a:buChar char=""/>
              <a:tabLst>
                <a:tab pos="228600" algn="l"/>
              </a:tabLst>
            </a:pPr>
            <a:r>
              <a:rPr lang="en-US" sz="1800" dirty="0">
                <a:effectLst/>
                <a:latin typeface="+mn-lt"/>
                <a:ea typeface="MS Mincho" panose="02020609040205080304" pitchFamily="49" charset="-128"/>
                <a:cs typeface="Times New Roman" panose="02020603050405020304" pitchFamily="18" charset="0"/>
              </a:rPr>
              <a:t>Skill demand analysis by job role and location</a:t>
            </a:r>
          </a:p>
          <a:p>
            <a:pPr marR="0" lvl="0">
              <a:lnSpc>
                <a:spcPct val="100000"/>
              </a:lnSpc>
              <a:tabLst>
                <a:tab pos="228600" algn="l"/>
              </a:tabLst>
            </a:pPr>
            <a:endParaRPr lang="en-US" sz="1800" dirty="0">
              <a:effectLst/>
              <a:latin typeface="+mn-lt"/>
              <a:ea typeface="MS Mincho" panose="02020609040205080304" pitchFamily="49" charset="-128"/>
              <a:cs typeface="Times New Roman" panose="02020603050405020304" pitchFamily="18" charset="0"/>
            </a:endParaRPr>
          </a:p>
          <a:p>
            <a:pPr marL="342900" marR="0" lvl="0" indent="-342900">
              <a:lnSpc>
                <a:spcPct val="100000"/>
              </a:lnSpc>
              <a:buFont typeface="Symbol" panose="05050102010706020507" pitchFamily="18" charset="2"/>
              <a:buChar char=""/>
              <a:tabLst>
                <a:tab pos="228600" algn="l"/>
              </a:tabLst>
            </a:pPr>
            <a:r>
              <a:rPr lang="en-US" sz="1800" dirty="0">
                <a:effectLst/>
                <a:latin typeface="+mn-lt"/>
                <a:ea typeface="MS Mincho" panose="02020609040205080304" pitchFamily="49" charset="-128"/>
                <a:cs typeface="Times New Roman" panose="02020603050405020304" pitchFamily="18" charset="0"/>
              </a:rPr>
              <a:t>Skill taxonomy and normalization</a:t>
            </a:r>
          </a:p>
          <a:p>
            <a:pPr marR="0" lvl="0">
              <a:lnSpc>
                <a:spcPct val="100000"/>
              </a:lnSpc>
              <a:tabLst>
                <a:tab pos="228600" algn="l"/>
              </a:tabLst>
            </a:pPr>
            <a:endParaRPr lang="en-US" sz="1800" dirty="0">
              <a:effectLst/>
              <a:latin typeface="+mn-lt"/>
              <a:ea typeface="MS Mincho" panose="02020609040205080304" pitchFamily="49" charset="-128"/>
              <a:cs typeface="Times New Roman" panose="02020603050405020304" pitchFamily="18" charset="0"/>
            </a:endParaRPr>
          </a:p>
          <a:p>
            <a:pPr marL="342900" marR="0" lvl="0" indent="-342900">
              <a:lnSpc>
                <a:spcPct val="100000"/>
              </a:lnSpc>
              <a:buFont typeface="Symbol" panose="05050102010706020507" pitchFamily="18" charset="2"/>
              <a:buChar char=""/>
              <a:tabLst>
                <a:tab pos="228600" algn="l"/>
              </a:tabLst>
            </a:pPr>
            <a:r>
              <a:rPr lang="en-US" sz="1800" dirty="0">
                <a:effectLst/>
                <a:latin typeface="+mn-lt"/>
                <a:ea typeface="MS Mincho" panose="02020609040205080304" pitchFamily="49" charset="-128"/>
                <a:cs typeface="Times New Roman" panose="02020603050405020304" pitchFamily="18" charset="0"/>
              </a:rPr>
              <a:t>Foundation for resume-job matching and skill-gap analysis</a:t>
            </a:r>
          </a:p>
          <a:p>
            <a:pPr marR="0" lvl="0">
              <a:lnSpc>
                <a:spcPct val="100000"/>
              </a:lnSpc>
              <a:tabLst>
                <a:tab pos="228600" algn="l"/>
              </a:tabLst>
            </a:pPr>
            <a:endParaRPr lang="en-US" sz="1800" dirty="0">
              <a:effectLst/>
              <a:latin typeface="+mn-lt"/>
              <a:ea typeface="MS Mincho" panose="02020609040205080304" pitchFamily="49" charset="-128"/>
              <a:cs typeface="Times New Roman" panose="02020603050405020304" pitchFamily="18" charset="0"/>
            </a:endParaRPr>
          </a:p>
          <a:p>
            <a:pPr marL="342900" marR="0" lvl="0" indent="-342900">
              <a:lnSpc>
                <a:spcPct val="100000"/>
              </a:lnSpc>
              <a:spcAft>
                <a:spcPts val="1000"/>
              </a:spcAft>
              <a:buFont typeface="Symbol" panose="05050102010706020507" pitchFamily="18" charset="2"/>
              <a:buChar char=""/>
              <a:tabLst>
                <a:tab pos="228600" algn="l"/>
              </a:tabLst>
            </a:pPr>
            <a:r>
              <a:rPr lang="en-US" sz="1800" dirty="0">
                <a:effectLst/>
                <a:latin typeface="+mn-lt"/>
                <a:ea typeface="MS Mincho" panose="02020609040205080304" pitchFamily="49" charset="-128"/>
                <a:cs typeface="Times New Roman" panose="02020603050405020304" pitchFamily="18" charset="0"/>
              </a:rPr>
              <a:t>Educational demonstration of NLP extraction techniques</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463976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602CEB0-EF8A-F8DC-C11E-37253B1B1572}"/>
              </a:ext>
            </a:extLst>
          </p:cNvPr>
          <p:cNvSpPr txBox="1"/>
          <p:nvPr/>
        </p:nvSpPr>
        <p:spPr>
          <a:xfrm>
            <a:off x="3048000" y="764351"/>
            <a:ext cx="6096000" cy="707886"/>
          </a:xfrm>
          <a:prstGeom prst="rect">
            <a:avLst/>
          </a:prstGeom>
          <a:noFill/>
        </p:spPr>
        <p:txBody>
          <a:bodyPr wrap="square">
            <a:spAutoFit/>
          </a:bodyPr>
          <a:lstStyle/>
          <a:p>
            <a:pPr algn="ctr">
              <a:spcBef>
                <a:spcPts val="2400"/>
              </a:spcBef>
            </a:pPr>
            <a:r>
              <a:rPr lang="en-US" sz="4000" b="1" i="1" u="sng" dirty="0">
                <a:solidFill>
                  <a:schemeClr val="bg2">
                    <a:lumMod val="25000"/>
                  </a:schemeClr>
                </a:solidFill>
              </a:rPr>
              <a:t>Technology &amp; Tools Used</a:t>
            </a:r>
          </a:p>
        </p:txBody>
      </p:sp>
      <p:graphicFrame>
        <p:nvGraphicFramePr>
          <p:cNvPr id="4" name="Table 3">
            <a:extLst>
              <a:ext uri="{FF2B5EF4-FFF2-40B4-BE49-F238E27FC236}">
                <a16:creationId xmlns:a16="http://schemas.microsoft.com/office/drawing/2014/main" id="{EC6C6050-5A55-42FB-3C90-67126462C212}"/>
              </a:ext>
            </a:extLst>
          </p:cNvPr>
          <p:cNvGraphicFramePr>
            <a:graphicFrameLocks noGrp="1"/>
          </p:cNvGraphicFramePr>
          <p:nvPr>
            <p:extLst>
              <p:ext uri="{D42A27DB-BD31-4B8C-83A1-F6EECF244321}">
                <p14:modId xmlns:p14="http://schemas.microsoft.com/office/powerpoint/2010/main" val="1139748681"/>
              </p:ext>
            </p:extLst>
          </p:nvPr>
        </p:nvGraphicFramePr>
        <p:xfrm>
          <a:off x="2410691" y="2189017"/>
          <a:ext cx="7998692" cy="3528288"/>
        </p:xfrm>
        <a:graphic>
          <a:graphicData uri="http://schemas.openxmlformats.org/drawingml/2006/table">
            <a:tbl>
              <a:tblPr firstRow="1" firstCol="1" bandRow="1">
                <a:tableStyleId>{5C22544A-7EE6-4342-B048-85BDC9FD1C3A}</a:tableStyleId>
              </a:tblPr>
              <a:tblGrid>
                <a:gridCol w="3999346">
                  <a:extLst>
                    <a:ext uri="{9D8B030D-6E8A-4147-A177-3AD203B41FA5}">
                      <a16:colId xmlns:a16="http://schemas.microsoft.com/office/drawing/2014/main" val="1446247275"/>
                    </a:ext>
                  </a:extLst>
                </a:gridCol>
                <a:gridCol w="3999346">
                  <a:extLst>
                    <a:ext uri="{9D8B030D-6E8A-4147-A177-3AD203B41FA5}">
                      <a16:colId xmlns:a16="http://schemas.microsoft.com/office/drawing/2014/main" val="2378683820"/>
                    </a:ext>
                  </a:extLst>
                </a:gridCol>
              </a:tblGrid>
              <a:tr h="392032">
                <a:tc>
                  <a:txBody>
                    <a:bodyPr/>
                    <a:lstStyle/>
                    <a:p>
                      <a:pPr marL="0" marR="0">
                        <a:lnSpc>
                          <a:spcPct val="115000"/>
                        </a:lnSpc>
                        <a:spcAft>
                          <a:spcPts val="1000"/>
                        </a:spcAft>
                        <a:buNone/>
                      </a:pPr>
                      <a:r>
                        <a:rPr lang="en-US" sz="1050">
                          <a:effectLst/>
                        </a:rPr>
                        <a:t>Technology</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Purpose</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803991673"/>
                  </a:ext>
                </a:extLst>
              </a:tr>
              <a:tr h="392032">
                <a:tc>
                  <a:txBody>
                    <a:bodyPr/>
                    <a:lstStyle/>
                    <a:p>
                      <a:pPr marL="0" marR="0">
                        <a:lnSpc>
                          <a:spcPct val="115000"/>
                        </a:lnSpc>
                        <a:spcAft>
                          <a:spcPts val="1000"/>
                        </a:spcAft>
                        <a:buNone/>
                      </a:pPr>
                      <a:r>
                        <a:rPr lang="en-US" sz="1050">
                          <a:effectLst/>
                        </a:rPr>
                        <a:t>Python</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Core implementation</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533167250"/>
                  </a:ext>
                </a:extLst>
              </a:tr>
              <a:tr h="392032">
                <a:tc>
                  <a:txBody>
                    <a:bodyPr/>
                    <a:lstStyle/>
                    <a:p>
                      <a:pPr marL="0" marR="0">
                        <a:lnSpc>
                          <a:spcPct val="115000"/>
                        </a:lnSpc>
                        <a:spcAft>
                          <a:spcPts val="1000"/>
                        </a:spcAft>
                        <a:buNone/>
                      </a:pPr>
                      <a:r>
                        <a:rPr lang="en-US" sz="1050">
                          <a:effectLst/>
                        </a:rPr>
                        <a:t>Pandas / NumPy</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Data handling and analysis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113181017"/>
                  </a:ext>
                </a:extLst>
              </a:tr>
              <a:tr h="392032">
                <a:tc>
                  <a:txBody>
                    <a:bodyPr/>
                    <a:lstStyle/>
                    <a:p>
                      <a:pPr marL="0" marR="0">
                        <a:lnSpc>
                          <a:spcPct val="115000"/>
                        </a:lnSpc>
                        <a:spcAft>
                          <a:spcPts val="1000"/>
                        </a:spcAft>
                        <a:buNone/>
                      </a:pPr>
                      <a:r>
                        <a:rPr lang="en-US" sz="1050">
                          <a:effectLst/>
                        </a:rPr>
                        <a:t>NLTK / spaCy</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NLP preprocessing and NER exploration</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032963514"/>
                  </a:ext>
                </a:extLst>
              </a:tr>
              <a:tr h="392032">
                <a:tc>
                  <a:txBody>
                    <a:bodyPr/>
                    <a:lstStyle/>
                    <a:p>
                      <a:pPr marL="0" marR="0">
                        <a:lnSpc>
                          <a:spcPct val="115000"/>
                        </a:lnSpc>
                        <a:spcAft>
                          <a:spcPts val="1000"/>
                        </a:spcAft>
                        <a:buNone/>
                      </a:pPr>
                      <a:r>
                        <a:rPr lang="en-US" sz="1050">
                          <a:effectLst/>
                        </a:rPr>
                        <a:t>Scikit-learn</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dirty="0">
                          <a:effectLst/>
                        </a:rPr>
                        <a:t>TF-IDF and ML classification</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060315251"/>
                  </a:ext>
                </a:extLst>
              </a:tr>
              <a:tr h="392032">
                <a:tc>
                  <a:txBody>
                    <a:bodyPr/>
                    <a:lstStyle/>
                    <a:p>
                      <a:pPr marL="0" marR="0">
                        <a:lnSpc>
                          <a:spcPct val="115000"/>
                        </a:lnSpc>
                        <a:spcAft>
                          <a:spcPts val="1000"/>
                        </a:spcAft>
                        <a:buNone/>
                      </a:pPr>
                      <a:r>
                        <a:rPr lang="en-US" sz="1050">
                          <a:effectLst/>
                        </a:rPr>
                        <a:t>Transformers / Sentence Transformers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Advanced semantic and transformer methods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659183527"/>
                  </a:ext>
                </a:extLst>
              </a:tr>
              <a:tr h="392032">
                <a:tc>
                  <a:txBody>
                    <a:bodyPr/>
                    <a:lstStyle/>
                    <a:p>
                      <a:pPr marL="0" marR="0">
                        <a:lnSpc>
                          <a:spcPct val="115000"/>
                        </a:lnSpc>
                        <a:spcAft>
                          <a:spcPts val="1000"/>
                        </a:spcAft>
                        <a:buNone/>
                      </a:pPr>
                      <a:r>
                        <a:rPr lang="en-US" sz="1050">
                          <a:effectLst/>
                        </a:rPr>
                        <a:t>Matplotlib / Seaborn</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EDA visualizations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437367637"/>
                  </a:ext>
                </a:extLst>
              </a:tr>
              <a:tr h="392032">
                <a:tc>
                  <a:txBody>
                    <a:bodyPr/>
                    <a:lstStyle/>
                    <a:p>
                      <a:pPr marL="0" marR="0">
                        <a:lnSpc>
                          <a:spcPct val="115000"/>
                        </a:lnSpc>
                        <a:spcAft>
                          <a:spcPts val="1000"/>
                        </a:spcAft>
                        <a:buNone/>
                      </a:pPr>
                      <a:r>
                        <a:rPr lang="en-US" sz="1050">
                          <a:effectLst/>
                        </a:rPr>
                        <a:t>Power BI / Tableau</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Dashboard layer</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970309313"/>
                  </a:ext>
                </a:extLst>
              </a:tr>
              <a:tr h="392032">
                <a:tc>
                  <a:txBody>
                    <a:bodyPr/>
                    <a:lstStyle/>
                    <a:p>
                      <a:pPr marL="0" marR="0">
                        <a:lnSpc>
                          <a:spcPct val="115000"/>
                        </a:lnSpc>
                        <a:spcAft>
                          <a:spcPts val="1000"/>
                        </a:spcAft>
                        <a:buNone/>
                      </a:pPr>
                      <a:r>
                        <a:rPr lang="en-US" sz="1050">
                          <a:effectLst/>
                        </a:rPr>
                        <a:t>Streamlit / FastAPI</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dirty="0">
                          <a:effectLst/>
                        </a:rPr>
                        <a:t>Application/API layer</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168056601"/>
                  </a:ext>
                </a:extLst>
              </a:tr>
            </a:tbl>
          </a:graphicData>
        </a:graphic>
      </p:graphicFrame>
    </p:spTree>
    <p:extLst>
      <p:ext uri="{BB962C8B-B14F-4D97-AF65-F5344CB8AC3E}">
        <p14:creationId xmlns:p14="http://schemas.microsoft.com/office/powerpoint/2010/main" val="17648762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BFAE38-4E38-1D0F-0D81-931CC57F29CA}"/>
              </a:ext>
            </a:extLst>
          </p:cNvPr>
          <p:cNvSpPr txBox="1"/>
          <p:nvPr/>
        </p:nvSpPr>
        <p:spPr>
          <a:xfrm>
            <a:off x="2146069" y="814457"/>
            <a:ext cx="8580582" cy="707886"/>
          </a:xfrm>
          <a:prstGeom prst="rect">
            <a:avLst/>
          </a:prstGeom>
          <a:noFill/>
        </p:spPr>
        <p:txBody>
          <a:bodyPr wrap="square">
            <a:spAutoFit/>
          </a:bodyPr>
          <a:lstStyle/>
          <a:p>
            <a:pPr algn="ctr">
              <a:spcBef>
                <a:spcPts val="2400"/>
              </a:spcBef>
            </a:pPr>
            <a:r>
              <a:rPr lang="en-US" sz="4000" b="1" i="1" u="sng" dirty="0">
                <a:solidFill>
                  <a:schemeClr val="bg2">
                    <a:lumMod val="25000"/>
                  </a:schemeClr>
                </a:solidFill>
              </a:rPr>
              <a:t>System Architecture &amp; Methodology</a:t>
            </a:r>
          </a:p>
        </p:txBody>
      </p:sp>
      <p:graphicFrame>
        <p:nvGraphicFramePr>
          <p:cNvPr id="4" name="Table 3">
            <a:extLst>
              <a:ext uri="{FF2B5EF4-FFF2-40B4-BE49-F238E27FC236}">
                <a16:creationId xmlns:a16="http://schemas.microsoft.com/office/drawing/2014/main" id="{C25AB1BB-E852-3A6D-76DB-AA256D5D99D9}"/>
              </a:ext>
            </a:extLst>
          </p:cNvPr>
          <p:cNvGraphicFramePr>
            <a:graphicFrameLocks noGrp="1"/>
          </p:cNvGraphicFramePr>
          <p:nvPr>
            <p:extLst>
              <p:ext uri="{D42A27DB-BD31-4B8C-83A1-F6EECF244321}">
                <p14:modId xmlns:p14="http://schemas.microsoft.com/office/powerpoint/2010/main" val="1248331177"/>
              </p:ext>
            </p:extLst>
          </p:nvPr>
        </p:nvGraphicFramePr>
        <p:xfrm>
          <a:off x="3017520" y="2373744"/>
          <a:ext cx="6837680" cy="3315856"/>
        </p:xfrm>
        <a:graphic>
          <a:graphicData uri="http://schemas.openxmlformats.org/drawingml/2006/table">
            <a:tbl>
              <a:tblPr firstRow="1" firstCol="1" bandRow="1">
                <a:tableStyleId>{5C22544A-7EE6-4342-B048-85BDC9FD1C3A}</a:tableStyleId>
              </a:tblPr>
              <a:tblGrid>
                <a:gridCol w="3418840">
                  <a:extLst>
                    <a:ext uri="{9D8B030D-6E8A-4147-A177-3AD203B41FA5}">
                      <a16:colId xmlns:a16="http://schemas.microsoft.com/office/drawing/2014/main" val="4221664515"/>
                    </a:ext>
                  </a:extLst>
                </a:gridCol>
                <a:gridCol w="3418840">
                  <a:extLst>
                    <a:ext uri="{9D8B030D-6E8A-4147-A177-3AD203B41FA5}">
                      <a16:colId xmlns:a16="http://schemas.microsoft.com/office/drawing/2014/main" val="1213367902"/>
                    </a:ext>
                  </a:extLst>
                </a:gridCol>
              </a:tblGrid>
              <a:tr h="414482">
                <a:tc>
                  <a:txBody>
                    <a:bodyPr/>
                    <a:lstStyle/>
                    <a:p>
                      <a:pPr marL="0" marR="0">
                        <a:lnSpc>
                          <a:spcPct val="115000"/>
                        </a:lnSpc>
                        <a:spcAft>
                          <a:spcPts val="1000"/>
                        </a:spcAft>
                        <a:buNone/>
                      </a:pPr>
                      <a:r>
                        <a:rPr lang="en-US" sz="1050" dirty="0">
                          <a:effectLst/>
                        </a:rPr>
                        <a:t>Stage</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Output</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6079302"/>
                  </a:ext>
                </a:extLst>
              </a:tr>
              <a:tr h="414482">
                <a:tc>
                  <a:txBody>
                    <a:bodyPr/>
                    <a:lstStyle/>
                    <a:p>
                      <a:pPr marL="0" marR="0">
                        <a:lnSpc>
                          <a:spcPct val="115000"/>
                        </a:lnSpc>
                        <a:spcAft>
                          <a:spcPts val="1000"/>
                        </a:spcAft>
                        <a:buNone/>
                      </a:pPr>
                      <a:r>
                        <a:rPr lang="en-US" sz="1050">
                          <a:effectLst/>
                        </a:rPr>
                        <a:t>Dataset collection</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raw_jobs.csv</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023105731"/>
                  </a:ext>
                </a:extLst>
              </a:tr>
              <a:tr h="414482">
                <a:tc>
                  <a:txBody>
                    <a:bodyPr/>
                    <a:lstStyle/>
                    <a:p>
                      <a:pPr marL="0" marR="0">
                        <a:lnSpc>
                          <a:spcPct val="115000"/>
                        </a:lnSpc>
                        <a:spcAft>
                          <a:spcPts val="1000"/>
                        </a:spcAft>
                        <a:buNone/>
                      </a:pPr>
                      <a:r>
                        <a:rPr lang="en-US" sz="1050">
                          <a:effectLst/>
                        </a:rPr>
                        <a:t>Cleaning</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clean_description</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669680724"/>
                  </a:ext>
                </a:extLst>
              </a:tr>
              <a:tr h="414482">
                <a:tc>
                  <a:txBody>
                    <a:bodyPr/>
                    <a:lstStyle/>
                    <a:p>
                      <a:pPr marL="0" marR="0">
                        <a:lnSpc>
                          <a:spcPct val="115000"/>
                        </a:lnSpc>
                        <a:spcAft>
                          <a:spcPts val="1000"/>
                        </a:spcAft>
                        <a:buNone/>
                      </a:pPr>
                      <a:r>
                        <a:rPr lang="en-US" sz="1050">
                          <a:effectLst/>
                        </a:rPr>
                        <a:t>Skill taxonomy</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master skill dictionary</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932162049"/>
                  </a:ext>
                </a:extLst>
              </a:tr>
              <a:tr h="414482">
                <a:tc>
                  <a:txBody>
                    <a:bodyPr/>
                    <a:lstStyle/>
                    <a:p>
                      <a:pPr marL="0" marR="0">
                        <a:lnSpc>
                          <a:spcPct val="115000"/>
                        </a:lnSpc>
                        <a:spcAft>
                          <a:spcPts val="1000"/>
                        </a:spcAft>
                        <a:buNone/>
                      </a:pPr>
                      <a:r>
                        <a:rPr lang="en-US" sz="1050">
                          <a:effectLst/>
                        </a:rPr>
                        <a:t>Extraction</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detected skills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718874910"/>
                  </a:ext>
                </a:extLst>
              </a:tr>
              <a:tr h="414482">
                <a:tc>
                  <a:txBody>
                    <a:bodyPr/>
                    <a:lstStyle/>
                    <a:p>
                      <a:pPr marL="0" marR="0">
                        <a:lnSpc>
                          <a:spcPct val="115000"/>
                        </a:lnSpc>
                        <a:spcAft>
                          <a:spcPts val="1000"/>
                        </a:spcAft>
                        <a:buNone/>
                      </a:pPr>
                      <a:r>
                        <a:rPr lang="en-US" sz="1050">
                          <a:effectLst/>
                        </a:rPr>
                        <a:t>Normalization</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canonical skill names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69488555"/>
                  </a:ext>
                </a:extLst>
              </a:tr>
              <a:tr h="414482">
                <a:tc>
                  <a:txBody>
                    <a:bodyPr/>
                    <a:lstStyle/>
                    <a:p>
                      <a:pPr marL="0" marR="0">
                        <a:lnSpc>
                          <a:spcPct val="115000"/>
                        </a:lnSpc>
                        <a:spcAft>
                          <a:spcPts val="1000"/>
                        </a:spcAft>
                        <a:buNone/>
                      </a:pPr>
                      <a:r>
                        <a:rPr lang="en-US" sz="1050">
                          <a:effectLst/>
                        </a:rPr>
                        <a:t>Analytics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skill-demand outputs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669417129"/>
                  </a:ext>
                </a:extLst>
              </a:tr>
              <a:tr h="414482">
                <a:tc>
                  <a:txBody>
                    <a:bodyPr/>
                    <a:lstStyle/>
                    <a:p>
                      <a:pPr marL="0" marR="0">
                        <a:lnSpc>
                          <a:spcPct val="115000"/>
                        </a:lnSpc>
                        <a:spcAft>
                          <a:spcPts val="1000"/>
                        </a:spcAft>
                        <a:buNone/>
                      </a:pPr>
                      <a:r>
                        <a:rPr lang="en-US" sz="1050">
                          <a:effectLst/>
                        </a:rPr>
                        <a:t>Application</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dirty="0" err="1">
                          <a:effectLst/>
                        </a:rPr>
                        <a:t>Streamlit</a:t>
                      </a:r>
                      <a:r>
                        <a:rPr lang="en-US" sz="1050" dirty="0">
                          <a:effectLst/>
                        </a:rPr>
                        <a:t> interface</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999663199"/>
                  </a:ext>
                </a:extLst>
              </a:tr>
            </a:tbl>
          </a:graphicData>
        </a:graphic>
      </p:graphicFrame>
    </p:spTree>
    <p:extLst>
      <p:ext uri="{BB962C8B-B14F-4D97-AF65-F5344CB8AC3E}">
        <p14:creationId xmlns:p14="http://schemas.microsoft.com/office/powerpoint/2010/main" val="3124676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7066B-053D-704D-6240-F35122C73807}"/>
              </a:ext>
            </a:extLst>
          </p:cNvPr>
          <p:cNvSpPr>
            <a:spLocks noGrp="1"/>
          </p:cNvSpPr>
          <p:nvPr>
            <p:ph type="title"/>
          </p:nvPr>
        </p:nvSpPr>
        <p:spPr>
          <a:xfrm>
            <a:off x="2399145" y="774373"/>
            <a:ext cx="8056419" cy="923330"/>
          </a:xfrm>
        </p:spPr>
        <p:txBody>
          <a:bodyPr>
            <a:normAutofit fontScale="90000"/>
          </a:bodyPr>
          <a:lstStyle/>
          <a:p>
            <a:r>
              <a:rPr lang="en-US" b="1" i="1" u="sng" dirty="0">
                <a:solidFill>
                  <a:schemeClr val="bg2">
                    <a:lumMod val="25000"/>
                  </a:schemeClr>
                </a:solidFill>
                <a:latin typeface="+mn-lt"/>
                <a:ea typeface="+mn-ea"/>
                <a:cs typeface="+mn-cs"/>
              </a:rPr>
              <a:t>Dataset Collection &amp; Understanding</a:t>
            </a:r>
            <a:br>
              <a:rPr lang="en-US" b="1" kern="0" dirty="0">
                <a:solidFill>
                  <a:schemeClr val="tx1"/>
                </a:solidFill>
                <a:ea typeface="MS Gothic" panose="020B0609070205080204" pitchFamily="49" charset="-128"/>
                <a:cs typeface="Times New Roman" panose="02020603050405020304" pitchFamily="18" charset="0"/>
              </a:rPr>
            </a:br>
            <a:endParaRPr lang="en-US" dirty="0"/>
          </a:p>
        </p:txBody>
      </p:sp>
      <p:graphicFrame>
        <p:nvGraphicFramePr>
          <p:cNvPr id="3" name="Table 2">
            <a:extLst>
              <a:ext uri="{FF2B5EF4-FFF2-40B4-BE49-F238E27FC236}">
                <a16:creationId xmlns:a16="http://schemas.microsoft.com/office/drawing/2014/main" id="{8F5F578C-6803-9FD2-2D5C-29248D2E1061}"/>
              </a:ext>
            </a:extLst>
          </p:cNvPr>
          <p:cNvGraphicFramePr>
            <a:graphicFrameLocks noGrp="1"/>
          </p:cNvGraphicFramePr>
          <p:nvPr>
            <p:extLst>
              <p:ext uri="{D42A27DB-BD31-4B8C-83A1-F6EECF244321}">
                <p14:modId xmlns:p14="http://schemas.microsoft.com/office/powerpoint/2010/main" val="3361921319"/>
              </p:ext>
            </p:extLst>
          </p:nvPr>
        </p:nvGraphicFramePr>
        <p:xfrm>
          <a:off x="2733964" y="3029527"/>
          <a:ext cx="6982690" cy="3599184"/>
        </p:xfrm>
        <a:graphic>
          <a:graphicData uri="http://schemas.openxmlformats.org/drawingml/2006/table">
            <a:tbl>
              <a:tblPr firstRow="1" firstCol="1" bandRow="1">
                <a:tableStyleId>{5C22544A-7EE6-4342-B048-85BDC9FD1C3A}</a:tableStyleId>
              </a:tblPr>
              <a:tblGrid>
                <a:gridCol w="3491345">
                  <a:extLst>
                    <a:ext uri="{9D8B030D-6E8A-4147-A177-3AD203B41FA5}">
                      <a16:colId xmlns:a16="http://schemas.microsoft.com/office/drawing/2014/main" val="1895401677"/>
                    </a:ext>
                  </a:extLst>
                </a:gridCol>
                <a:gridCol w="3491345">
                  <a:extLst>
                    <a:ext uri="{9D8B030D-6E8A-4147-A177-3AD203B41FA5}">
                      <a16:colId xmlns:a16="http://schemas.microsoft.com/office/drawing/2014/main" val="3778750889"/>
                    </a:ext>
                  </a:extLst>
                </a:gridCol>
              </a:tblGrid>
              <a:tr h="224949">
                <a:tc>
                  <a:txBody>
                    <a:bodyPr/>
                    <a:lstStyle/>
                    <a:p>
                      <a:pPr marL="0" marR="0">
                        <a:lnSpc>
                          <a:spcPct val="115000"/>
                        </a:lnSpc>
                        <a:spcAft>
                          <a:spcPts val="1000"/>
                        </a:spcAft>
                        <a:buNone/>
                      </a:pPr>
                      <a:r>
                        <a:rPr lang="en-US" sz="1050">
                          <a:effectLst/>
                        </a:rPr>
                        <a:t>Field</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Description</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971496738"/>
                  </a:ext>
                </a:extLst>
              </a:tr>
              <a:tr h="224949">
                <a:tc>
                  <a:txBody>
                    <a:bodyPr/>
                    <a:lstStyle/>
                    <a:p>
                      <a:pPr marL="0" marR="0">
                        <a:lnSpc>
                          <a:spcPct val="115000"/>
                        </a:lnSpc>
                        <a:spcAft>
                          <a:spcPts val="1000"/>
                        </a:spcAft>
                        <a:buNone/>
                      </a:pPr>
                      <a:r>
                        <a:rPr lang="en-US" sz="1050">
                          <a:effectLst/>
                        </a:rPr>
                        <a:t>job_id</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Unique job identifier</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179293243"/>
                  </a:ext>
                </a:extLst>
              </a:tr>
              <a:tr h="224949">
                <a:tc>
                  <a:txBody>
                    <a:bodyPr/>
                    <a:lstStyle/>
                    <a:p>
                      <a:pPr marL="0" marR="0">
                        <a:lnSpc>
                          <a:spcPct val="115000"/>
                        </a:lnSpc>
                        <a:spcAft>
                          <a:spcPts val="1000"/>
                        </a:spcAft>
                        <a:buNone/>
                      </a:pPr>
                      <a:r>
                        <a:rPr lang="en-US" sz="1050">
                          <a:effectLst/>
                        </a:rPr>
                        <a:t>job_title</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Job role/title</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79642163"/>
                  </a:ext>
                </a:extLst>
              </a:tr>
              <a:tr h="224949">
                <a:tc>
                  <a:txBody>
                    <a:bodyPr/>
                    <a:lstStyle/>
                    <a:p>
                      <a:pPr marL="0" marR="0">
                        <a:lnSpc>
                          <a:spcPct val="115000"/>
                        </a:lnSpc>
                        <a:spcAft>
                          <a:spcPts val="1000"/>
                        </a:spcAft>
                        <a:buNone/>
                      </a:pPr>
                      <a:r>
                        <a:rPr lang="en-US" sz="1050">
                          <a:effectLst/>
                        </a:rPr>
                        <a:t>company</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Hiring company</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918284596"/>
                  </a:ext>
                </a:extLst>
              </a:tr>
              <a:tr h="224949">
                <a:tc>
                  <a:txBody>
                    <a:bodyPr/>
                    <a:lstStyle/>
                    <a:p>
                      <a:pPr marL="0" marR="0">
                        <a:lnSpc>
                          <a:spcPct val="115000"/>
                        </a:lnSpc>
                        <a:spcAft>
                          <a:spcPts val="1000"/>
                        </a:spcAft>
                        <a:buNone/>
                      </a:pPr>
                      <a:r>
                        <a:rPr lang="en-US" sz="1050">
                          <a:effectLst/>
                        </a:rPr>
                        <a:t>location</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Job location</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03484825"/>
                  </a:ext>
                </a:extLst>
              </a:tr>
              <a:tr h="224949">
                <a:tc>
                  <a:txBody>
                    <a:bodyPr/>
                    <a:lstStyle/>
                    <a:p>
                      <a:pPr marL="0" marR="0">
                        <a:lnSpc>
                          <a:spcPct val="115000"/>
                        </a:lnSpc>
                        <a:spcAft>
                          <a:spcPts val="1000"/>
                        </a:spcAft>
                        <a:buNone/>
                      </a:pPr>
                      <a:r>
                        <a:rPr lang="en-US" sz="1050">
                          <a:effectLst/>
                        </a:rPr>
                        <a:t>job_description</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Unstructured text used for NLP</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227556199"/>
                  </a:ext>
                </a:extLst>
              </a:tr>
              <a:tr h="224949">
                <a:tc>
                  <a:txBody>
                    <a:bodyPr/>
                    <a:lstStyle/>
                    <a:p>
                      <a:pPr marL="0" marR="0">
                        <a:lnSpc>
                          <a:spcPct val="115000"/>
                        </a:lnSpc>
                        <a:spcAft>
                          <a:spcPts val="1000"/>
                        </a:spcAft>
                        <a:buNone/>
                      </a:pPr>
                      <a:r>
                        <a:rPr lang="en-US" sz="1050">
                          <a:effectLst/>
                        </a:rPr>
                        <a:t>experience</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Required experience</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681027369"/>
                  </a:ext>
                </a:extLst>
              </a:tr>
              <a:tr h="224949">
                <a:tc>
                  <a:txBody>
                    <a:bodyPr/>
                    <a:lstStyle/>
                    <a:p>
                      <a:pPr marL="0" marR="0">
                        <a:lnSpc>
                          <a:spcPct val="115000"/>
                        </a:lnSpc>
                        <a:spcAft>
                          <a:spcPts val="1000"/>
                        </a:spcAft>
                        <a:buNone/>
                      </a:pPr>
                      <a:r>
                        <a:rPr lang="en-US" sz="1050">
                          <a:effectLst/>
                        </a:rPr>
                        <a:t>education</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Education requirement</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221777214"/>
                  </a:ext>
                </a:extLst>
              </a:tr>
              <a:tr h="224949">
                <a:tc>
                  <a:txBody>
                    <a:bodyPr/>
                    <a:lstStyle/>
                    <a:p>
                      <a:pPr marL="0" marR="0">
                        <a:lnSpc>
                          <a:spcPct val="115000"/>
                        </a:lnSpc>
                        <a:spcAft>
                          <a:spcPts val="1000"/>
                        </a:spcAft>
                        <a:buNone/>
                      </a:pPr>
                      <a:r>
                        <a:rPr lang="en-US" sz="1050">
                          <a:effectLst/>
                        </a:rPr>
                        <a:t>salary_lpa</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Salary in LPA</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147068896"/>
                  </a:ext>
                </a:extLst>
              </a:tr>
              <a:tr h="224949">
                <a:tc>
                  <a:txBody>
                    <a:bodyPr/>
                    <a:lstStyle/>
                    <a:p>
                      <a:pPr marL="0" marR="0">
                        <a:lnSpc>
                          <a:spcPct val="115000"/>
                        </a:lnSpc>
                        <a:spcAft>
                          <a:spcPts val="1000"/>
                        </a:spcAft>
                        <a:buNone/>
                      </a:pPr>
                      <a:r>
                        <a:rPr lang="en-US" sz="1050">
                          <a:effectLst/>
                        </a:rPr>
                        <a:t>job_type</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Employment type</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099740181"/>
                  </a:ext>
                </a:extLst>
              </a:tr>
              <a:tr h="224949">
                <a:tc>
                  <a:txBody>
                    <a:bodyPr/>
                    <a:lstStyle/>
                    <a:p>
                      <a:pPr marL="0" marR="0">
                        <a:lnSpc>
                          <a:spcPct val="115000"/>
                        </a:lnSpc>
                        <a:spcAft>
                          <a:spcPts val="1000"/>
                        </a:spcAft>
                        <a:buNone/>
                      </a:pPr>
                      <a:r>
                        <a:rPr lang="en-US" sz="1050">
                          <a:effectLst/>
                        </a:rPr>
                        <a:t>required_skills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Provided skill list used for validation</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281980986"/>
                  </a:ext>
                </a:extLst>
              </a:tr>
              <a:tr h="224949">
                <a:tc>
                  <a:txBody>
                    <a:bodyPr/>
                    <a:lstStyle/>
                    <a:p>
                      <a:pPr marL="0" marR="0">
                        <a:lnSpc>
                          <a:spcPct val="115000"/>
                        </a:lnSpc>
                        <a:spcAft>
                          <a:spcPts val="1000"/>
                        </a:spcAft>
                        <a:buNone/>
                      </a:pPr>
                      <a:r>
                        <a:rPr lang="en-US" sz="1050">
                          <a:effectLst/>
                        </a:rPr>
                        <a:t>gt_skills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Dataset field</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514881812"/>
                  </a:ext>
                </a:extLst>
              </a:tr>
              <a:tr h="224949">
                <a:tc>
                  <a:txBody>
                    <a:bodyPr/>
                    <a:lstStyle/>
                    <a:p>
                      <a:pPr marL="0" marR="0">
                        <a:lnSpc>
                          <a:spcPct val="115000"/>
                        </a:lnSpc>
                        <a:spcAft>
                          <a:spcPts val="1000"/>
                        </a:spcAft>
                        <a:buNone/>
                      </a:pPr>
                      <a:r>
                        <a:rPr lang="en-US" sz="1050">
                          <a:effectLst/>
                        </a:rPr>
                        <a:t>rule_skills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Dataset field</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14953158"/>
                  </a:ext>
                </a:extLst>
              </a:tr>
              <a:tr h="224949">
                <a:tc>
                  <a:txBody>
                    <a:bodyPr/>
                    <a:lstStyle/>
                    <a:p>
                      <a:pPr marL="0" marR="0">
                        <a:lnSpc>
                          <a:spcPct val="115000"/>
                        </a:lnSpc>
                        <a:spcAft>
                          <a:spcPts val="1000"/>
                        </a:spcAft>
                        <a:buNone/>
                      </a:pPr>
                      <a:r>
                        <a:rPr lang="en-US" sz="1050">
                          <a:effectLst/>
                        </a:rPr>
                        <a:t>regex_skills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Dataset field</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05779922"/>
                  </a:ext>
                </a:extLst>
              </a:tr>
              <a:tr h="224949">
                <a:tc>
                  <a:txBody>
                    <a:bodyPr/>
                    <a:lstStyle/>
                    <a:p>
                      <a:pPr marL="0" marR="0">
                        <a:lnSpc>
                          <a:spcPct val="115000"/>
                        </a:lnSpc>
                        <a:spcAft>
                          <a:spcPts val="1000"/>
                        </a:spcAft>
                        <a:buNone/>
                      </a:pPr>
                      <a:r>
                        <a:rPr lang="en-US" sz="1050">
                          <a:effectLst/>
                        </a:rPr>
                        <a:t>clean_description</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Dataset field</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768815115"/>
                  </a:ext>
                </a:extLst>
              </a:tr>
              <a:tr h="224949">
                <a:tc>
                  <a:txBody>
                    <a:bodyPr/>
                    <a:lstStyle/>
                    <a:p>
                      <a:pPr marL="0" marR="0">
                        <a:lnSpc>
                          <a:spcPct val="115000"/>
                        </a:lnSpc>
                        <a:spcAft>
                          <a:spcPts val="1000"/>
                        </a:spcAft>
                        <a:buNone/>
                      </a:pPr>
                      <a:r>
                        <a:rPr lang="en-US" sz="1050">
                          <a:effectLst/>
                        </a:rPr>
                        <a:t>description_length</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dirty="0">
                          <a:effectLst/>
                        </a:rPr>
                        <a:t>Dataset field</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462321467"/>
                  </a:ext>
                </a:extLst>
              </a:tr>
            </a:tbl>
          </a:graphicData>
        </a:graphic>
      </p:graphicFrame>
      <p:sp>
        <p:nvSpPr>
          <p:cNvPr id="7" name="TextBox 6">
            <a:extLst>
              <a:ext uri="{FF2B5EF4-FFF2-40B4-BE49-F238E27FC236}">
                <a16:creationId xmlns:a16="http://schemas.microsoft.com/office/drawing/2014/main" id="{B43978FA-2507-201A-AF4F-3BC1EC83AACE}"/>
              </a:ext>
            </a:extLst>
          </p:cNvPr>
          <p:cNvSpPr txBox="1"/>
          <p:nvPr/>
        </p:nvSpPr>
        <p:spPr>
          <a:xfrm>
            <a:off x="1653308" y="1863957"/>
            <a:ext cx="9319492" cy="923330"/>
          </a:xfrm>
          <a:prstGeom prst="rect">
            <a:avLst/>
          </a:prstGeom>
          <a:noFill/>
        </p:spPr>
        <p:txBody>
          <a:bodyPr wrap="square">
            <a:spAutoFit/>
          </a:bodyPr>
          <a:lstStyle/>
          <a:p>
            <a:r>
              <a:rPr lang="en-US" sz="1800" dirty="0">
                <a:effectLst/>
                <a:latin typeface="+mn-lt"/>
                <a:ea typeface="MS Mincho" panose="02020609040205080304" pitchFamily="49" charset="-128"/>
                <a:cs typeface="Times New Roman" panose="02020603050405020304" pitchFamily="18" charset="0"/>
              </a:rPr>
              <a:t>The supplied dataset contains 100 records and 10 columns. The main text field for extraction is </a:t>
            </a:r>
            <a:r>
              <a:rPr lang="en-US" sz="1800" dirty="0" err="1">
                <a:effectLst/>
                <a:latin typeface="+mn-lt"/>
                <a:ea typeface="MS Mincho" panose="02020609040205080304" pitchFamily="49" charset="-128"/>
                <a:cs typeface="Times New Roman" panose="02020603050405020304" pitchFamily="18" charset="0"/>
              </a:rPr>
              <a:t>job_description</a:t>
            </a:r>
            <a:r>
              <a:rPr lang="en-US" sz="1800" dirty="0">
                <a:effectLst/>
                <a:latin typeface="+mn-lt"/>
                <a:ea typeface="MS Mincho" panose="02020609040205080304" pitchFamily="49" charset="-128"/>
                <a:cs typeface="Times New Roman" panose="02020603050405020304" pitchFamily="18" charset="0"/>
              </a:rPr>
              <a:t>. The other fields provide role, company, location, experience, education, salary, job type and a required skill reference</a:t>
            </a:r>
            <a:endParaRPr lang="en-US" dirty="0"/>
          </a:p>
        </p:txBody>
      </p:sp>
    </p:spTree>
    <p:extLst>
      <p:ext uri="{BB962C8B-B14F-4D97-AF65-F5344CB8AC3E}">
        <p14:creationId xmlns:p14="http://schemas.microsoft.com/office/powerpoint/2010/main" val="716859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4BC532-2CA4-4F7B-A226-F61DF638BF53}"/>
              </a:ext>
            </a:extLst>
          </p:cNvPr>
          <p:cNvSpPr txBox="1"/>
          <p:nvPr/>
        </p:nvSpPr>
        <p:spPr>
          <a:xfrm>
            <a:off x="2807854" y="496538"/>
            <a:ext cx="7232073" cy="707886"/>
          </a:xfrm>
          <a:prstGeom prst="rect">
            <a:avLst/>
          </a:prstGeom>
          <a:noFill/>
        </p:spPr>
        <p:txBody>
          <a:bodyPr wrap="square">
            <a:spAutoFit/>
          </a:bodyPr>
          <a:lstStyle/>
          <a:p>
            <a:pPr algn="ctr"/>
            <a:r>
              <a:rPr lang="en-US" sz="4000" b="1" i="1" u="sng" dirty="0">
                <a:solidFill>
                  <a:schemeClr val="bg2">
                    <a:lumMod val="25000"/>
                  </a:schemeClr>
                </a:solidFill>
              </a:rPr>
              <a:t>Exploratory Data Analysis (EDA)</a:t>
            </a:r>
          </a:p>
        </p:txBody>
      </p:sp>
      <p:sp>
        <p:nvSpPr>
          <p:cNvPr id="5" name="TextBox 4">
            <a:extLst>
              <a:ext uri="{FF2B5EF4-FFF2-40B4-BE49-F238E27FC236}">
                <a16:creationId xmlns:a16="http://schemas.microsoft.com/office/drawing/2014/main" id="{E0650596-8463-0BC6-8EAD-4C30835AE07D}"/>
              </a:ext>
            </a:extLst>
          </p:cNvPr>
          <p:cNvSpPr txBox="1"/>
          <p:nvPr/>
        </p:nvSpPr>
        <p:spPr>
          <a:xfrm>
            <a:off x="1487055" y="1729390"/>
            <a:ext cx="9596581" cy="646331"/>
          </a:xfrm>
          <a:prstGeom prst="rect">
            <a:avLst/>
          </a:prstGeom>
          <a:noFill/>
        </p:spPr>
        <p:txBody>
          <a:bodyPr wrap="square">
            <a:spAutoFit/>
          </a:bodyPr>
          <a:lstStyle/>
          <a:p>
            <a:pPr marL="0" marR="0">
              <a:lnSpc>
                <a:spcPct val="100000"/>
              </a:lnSpc>
              <a:spcAft>
                <a:spcPts val="1000"/>
              </a:spcAft>
              <a:buNone/>
            </a:pPr>
            <a:r>
              <a:rPr lang="en-US" sz="1800" dirty="0">
                <a:effectLst/>
                <a:latin typeface="+mn-lt"/>
                <a:ea typeface="MS Mincho" panose="02020609040205080304" pitchFamily="49" charset="-128"/>
                <a:cs typeface="Times New Roman" panose="02020603050405020304" pitchFamily="18" charset="0"/>
              </a:rPr>
              <a:t>The dataset contains 100 jobs, 15 unique job titles and 12 unique locations. Average description length is 409.3 characters, minimum 380, maximum 440. Average salary is 7.74 LPA.</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711B1289-E4CA-1418-767A-4AF00FEF6563}"/>
              </a:ext>
            </a:extLst>
          </p:cNvPr>
          <p:cNvGraphicFramePr>
            <a:graphicFrameLocks noGrp="1"/>
          </p:cNvGraphicFramePr>
          <p:nvPr>
            <p:extLst>
              <p:ext uri="{D42A27DB-BD31-4B8C-83A1-F6EECF244321}">
                <p14:modId xmlns:p14="http://schemas.microsoft.com/office/powerpoint/2010/main" val="2868501479"/>
              </p:ext>
            </p:extLst>
          </p:nvPr>
        </p:nvGraphicFramePr>
        <p:xfrm>
          <a:off x="2807853" y="2900686"/>
          <a:ext cx="6862618" cy="3460780"/>
        </p:xfrm>
        <a:graphic>
          <a:graphicData uri="http://schemas.openxmlformats.org/drawingml/2006/table">
            <a:tbl>
              <a:tblPr firstRow="1" firstCol="1" bandRow="1">
                <a:tableStyleId>{5C22544A-7EE6-4342-B048-85BDC9FD1C3A}</a:tableStyleId>
              </a:tblPr>
              <a:tblGrid>
                <a:gridCol w="3431309">
                  <a:extLst>
                    <a:ext uri="{9D8B030D-6E8A-4147-A177-3AD203B41FA5}">
                      <a16:colId xmlns:a16="http://schemas.microsoft.com/office/drawing/2014/main" val="2917758370"/>
                    </a:ext>
                  </a:extLst>
                </a:gridCol>
                <a:gridCol w="3431309">
                  <a:extLst>
                    <a:ext uri="{9D8B030D-6E8A-4147-A177-3AD203B41FA5}">
                      <a16:colId xmlns:a16="http://schemas.microsoft.com/office/drawing/2014/main" val="2628112776"/>
                    </a:ext>
                  </a:extLst>
                </a:gridCol>
              </a:tblGrid>
              <a:tr h="346078">
                <a:tc>
                  <a:txBody>
                    <a:bodyPr/>
                    <a:lstStyle/>
                    <a:p>
                      <a:pPr marL="0" marR="0">
                        <a:lnSpc>
                          <a:spcPct val="115000"/>
                        </a:lnSpc>
                        <a:spcAft>
                          <a:spcPts val="1000"/>
                        </a:spcAft>
                        <a:buNone/>
                      </a:pPr>
                      <a:r>
                        <a:rPr lang="en-US" sz="1050">
                          <a:effectLst/>
                        </a:rPr>
                        <a:t>Measure</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Result</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120380659"/>
                  </a:ext>
                </a:extLst>
              </a:tr>
              <a:tr h="346078">
                <a:tc>
                  <a:txBody>
                    <a:bodyPr/>
                    <a:lstStyle/>
                    <a:p>
                      <a:pPr marL="0" marR="0">
                        <a:lnSpc>
                          <a:spcPct val="115000"/>
                        </a:lnSpc>
                        <a:spcAft>
                          <a:spcPts val="1000"/>
                        </a:spcAft>
                        <a:buNone/>
                      </a:pPr>
                      <a:r>
                        <a:rPr lang="en-US" sz="1050">
                          <a:effectLst/>
                        </a:rPr>
                        <a:t>Total jobs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100</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68923961"/>
                  </a:ext>
                </a:extLst>
              </a:tr>
              <a:tr h="346078">
                <a:tc>
                  <a:txBody>
                    <a:bodyPr/>
                    <a:lstStyle/>
                    <a:p>
                      <a:pPr marL="0" marR="0">
                        <a:lnSpc>
                          <a:spcPct val="115000"/>
                        </a:lnSpc>
                        <a:spcAft>
                          <a:spcPts val="1000"/>
                        </a:spcAft>
                        <a:buNone/>
                      </a:pPr>
                      <a:r>
                        <a:rPr lang="en-US" sz="1050">
                          <a:effectLst/>
                        </a:rPr>
                        <a:t>Unique job titles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15</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237285630"/>
                  </a:ext>
                </a:extLst>
              </a:tr>
              <a:tr h="346078">
                <a:tc>
                  <a:txBody>
                    <a:bodyPr/>
                    <a:lstStyle/>
                    <a:p>
                      <a:pPr marL="0" marR="0">
                        <a:lnSpc>
                          <a:spcPct val="115000"/>
                        </a:lnSpc>
                        <a:spcAft>
                          <a:spcPts val="1000"/>
                        </a:spcAft>
                        <a:buNone/>
                      </a:pPr>
                      <a:r>
                        <a:rPr lang="en-US" sz="1050">
                          <a:effectLst/>
                        </a:rPr>
                        <a:t>Unique locations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12</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089901889"/>
                  </a:ext>
                </a:extLst>
              </a:tr>
              <a:tr h="346078">
                <a:tc>
                  <a:txBody>
                    <a:bodyPr/>
                    <a:lstStyle/>
                    <a:p>
                      <a:pPr marL="0" marR="0">
                        <a:lnSpc>
                          <a:spcPct val="115000"/>
                        </a:lnSpc>
                        <a:spcAft>
                          <a:spcPts val="1000"/>
                        </a:spcAft>
                        <a:buNone/>
                      </a:pPr>
                      <a:r>
                        <a:rPr lang="en-US" sz="1050">
                          <a:effectLst/>
                        </a:rPr>
                        <a:t>Average description length</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409.3 characters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780266597"/>
                  </a:ext>
                </a:extLst>
              </a:tr>
              <a:tr h="346078">
                <a:tc>
                  <a:txBody>
                    <a:bodyPr/>
                    <a:lstStyle/>
                    <a:p>
                      <a:pPr marL="0" marR="0">
                        <a:lnSpc>
                          <a:spcPct val="115000"/>
                        </a:lnSpc>
                        <a:spcAft>
                          <a:spcPts val="1000"/>
                        </a:spcAft>
                        <a:buNone/>
                      </a:pPr>
                      <a:r>
                        <a:rPr lang="en-US" sz="1050">
                          <a:effectLst/>
                        </a:rPr>
                        <a:t>Minimum description length</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380</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713986480"/>
                  </a:ext>
                </a:extLst>
              </a:tr>
              <a:tr h="346078">
                <a:tc>
                  <a:txBody>
                    <a:bodyPr/>
                    <a:lstStyle/>
                    <a:p>
                      <a:pPr marL="0" marR="0">
                        <a:lnSpc>
                          <a:spcPct val="115000"/>
                        </a:lnSpc>
                        <a:spcAft>
                          <a:spcPts val="1000"/>
                        </a:spcAft>
                        <a:buNone/>
                      </a:pPr>
                      <a:r>
                        <a:rPr lang="en-US" sz="1050">
                          <a:effectLst/>
                        </a:rPr>
                        <a:t>Maximum description length</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440</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779680269"/>
                  </a:ext>
                </a:extLst>
              </a:tr>
              <a:tr h="346078">
                <a:tc>
                  <a:txBody>
                    <a:bodyPr/>
                    <a:lstStyle/>
                    <a:p>
                      <a:pPr marL="0" marR="0">
                        <a:lnSpc>
                          <a:spcPct val="115000"/>
                        </a:lnSpc>
                        <a:spcAft>
                          <a:spcPts val="1000"/>
                        </a:spcAft>
                        <a:buNone/>
                      </a:pPr>
                      <a:r>
                        <a:rPr lang="en-US" sz="1050">
                          <a:effectLst/>
                        </a:rPr>
                        <a:t>Missing values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0</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649975222"/>
                  </a:ext>
                </a:extLst>
              </a:tr>
              <a:tr h="346078">
                <a:tc>
                  <a:txBody>
                    <a:bodyPr/>
                    <a:lstStyle/>
                    <a:p>
                      <a:pPr marL="0" marR="0">
                        <a:lnSpc>
                          <a:spcPct val="115000"/>
                        </a:lnSpc>
                        <a:spcAft>
                          <a:spcPts val="1000"/>
                        </a:spcAft>
                        <a:buNone/>
                      </a:pPr>
                      <a:r>
                        <a:rPr lang="en-US" sz="1050">
                          <a:effectLst/>
                        </a:rPr>
                        <a:t>Duplicate rows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0</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075288112"/>
                  </a:ext>
                </a:extLst>
              </a:tr>
              <a:tr h="346078">
                <a:tc>
                  <a:txBody>
                    <a:bodyPr/>
                    <a:lstStyle/>
                    <a:p>
                      <a:pPr marL="0" marR="0">
                        <a:lnSpc>
                          <a:spcPct val="115000"/>
                        </a:lnSpc>
                        <a:spcAft>
                          <a:spcPts val="1000"/>
                        </a:spcAft>
                        <a:buNone/>
                      </a:pPr>
                      <a:r>
                        <a:rPr lang="en-US" sz="1050">
                          <a:effectLst/>
                        </a:rPr>
                        <a:t>Average salary</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dirty="0">
                          <a:effectLst/>
                        </a:rPr>
                        <a:t>7.74 LPA</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127808702"/>
                  </a:ext>
                </a:extLst>
              </a:tr>
            </a:tbl>
          </a:graphicData>
        </a:graphic>
      </p:graphicFrame>
    </p:spTree>
    <p:extLst>
      <p:ext uri="{BB962C8B-B14F-4D97-AF65-F5344CB8AC3E}">
        <p14:creationId xmlns:p14="http://schemas.microsoft.com/office/powerpoint/2010/main" val="1699586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94E7EE5B-07C7-AE48-C892-73E4CC18FAE0}"/>
              </a:ext>
            </a:extLst>
          </p:cNvPr>
          <p:cNvGraphicFramePr>
            <a:graphicFrameLocks noGrp="1"/>
          </p:cNvGraphicFramePr>
          <p:nvPr>
            <p:extLst>
              <p:ext uri="{D42A27DB-BD31-4B8C-83A1-F6EECF244321}">
                <p14:modId xmlns:p14="http://schemas.microsoft.com/office/powerpoint/2010/main" val="103398434"/>
              </p:ext>
            </p:extLst>
          </p:nvPr>
        </p:nvGraphicFramePr>
        <p:xfrm>
          <a:off x="2564937" y="923635"/>
          <a:ext cx="7114772" cy="2576937"/>
        </p:xfrm>
        <a:graphic>
          <a:graphicData uri="http://schemas.openxmlformats.org/drawingml/2006/table">
            <a:tbl>
              <a:tblPr firstRow="1" firstCol="1" bandRow="1">
                <a:tableStyleId>{5C22544A-7EE6-4342-B048-85BDC9FD1C3A}</a:tableStyleId>
              </a:tblPr>
              <a:tblGrid>
                <a:gridCol w="3557386">
                  <a:extLst>
                    <a:ext uri="{9D8B030D-6E8A-4147-A177-3AD203B41FA5}">
                      <a16:colId xmlns:a16="http://schemas.microsoft.com/office/drawing/2014/main" val="114620709"/>
                    </a:ext>
                  </a:extLst>
                </a:gridCol>
                <a:gridCol w="3557386">
                  <a:extLst>
                    <a:ext uri="{9D8B030D-6E8A-4147-A177-3AD203B41FA5}">
                      <a16:colId xmlns:a16="http://schemas.microsoft.com/office/drawing/2014/main" val="2979807091"/>
                    </a:ext>
                  </a:extLst>
                </a:gridCol>
              </a:tblGrid>
              <a:tr h="234267">
                <a:tc>
                  <a:txBody>
                    <a:bodyPr/>
                    <a:lstStyle/>
                    <a:p>
                      <a:pPr marL="0" marR="0">
                        <a:lnSpc>
                          <a:spcPct val="115000"/>
                        </a:lnSpc>
                        <a:spcAft>
                          <a:spcPts val="1000"/>
                        </a:spcAft>
                        <a:buNone/>
                      </a:pPr>
                      <a:r>
                        <a:rPr lang="en-US" sz="1050">
                          <a:effectLst/>
                        </a:rPr>
                        <a:t>Job Title</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Count</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915522496"/>
                  </a:ext>
                </a:extLst>
              </a:tr>
              <a:tr h="234267">
                <a:tc>
                  <a:txBody>
                    <a:bodyPr/>
                    <a:lstStyle/>
                    <a:p>
                      <a:pPr marL="0" marR="0">
                        <a:lnSpc>
                          <a:spcPct val="115000"/>
                        </a:lnSpc>
                        <a:spcAft>
                          <a:spcPts val="1000"/>
                        </a:spcAft>
                        <a:buNone/>
                      </a:pPr>
                      <a:r>
                        <a:rPr lang="en-US" sz="1050">
                          <a:effectLst/>
                        </a:rPr>
                        <a:t>Java Developer</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12</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128636999"/>
                  </a:ext>
                </a:extLst>
              </a:tr>
              <a:tr h="234267">
                <a:tc>
                  <a:txBody>
                    <a:bodyPr/>
                    <a:lstStyle/>
                    <a:p>
                      <a:pPr marL="0" marR="0">
                        <a:lnSpc>
                          <a:spcPct val="115000"/>
                        </a:lnSpc>
                        <a:spcAft>
                          <a:spcPts val="1000"/>
                        </a:spcAft>
                        <a:buNone/>
                      </a:pPr>
                      <a:r>
                        <a:rPr lang="en-US" sz="1050">
                          <a:effectLst/>
                        </a:rPr>
                        <a:t>Data Engineer</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11</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382977364"/>
                  </a:ext>
                </a:extLst>
              </a:tr>
              <a:tr h="234267">
                <a:tc>
                  <a:txBody>
                    <a:bodyPr/>
                    <a:lstStyle/>
                    <a:p>
                      <a:pPr marL="0" marR="0">
                        <a:lnSpc>
                          <a:spcPct val="115000"/>
                        </a:lnSpc>
                        <a:spcAft>
                          <a:spcPts val="1000"/>
                        </a:spcAft>
                        <a:buNone/>
                      </a:pPr>
                      <a:r>
                        <a:rPr lang="en-US" sz="1050">
                          <a:effectLst/>
                        </a:rPr>
                        <a:t>Data Analyst</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9</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427986418"/>
                  </a:ext>
                </a:extLst>
              </a:tr>
              <a:tr h="234267">
                <a:tc>
                  <a:txBody>
                    <a:bodyPr/>
                    <a:lstStyle/>
                    <a:p>
                      <a:pPr marL="0" marR="0">
                        <a:lnSpc>
                          <a:spcPct val="115000"/>
                        </a:lnSpc>
                        <a:spcAft>
                          <a:spcPts val="1000"/>
                        </a:spcAft>
                        <a:buNone/>
                      </a:pPr>
                      <a:r>
                        <a:rPr lang="en-US" sz="1050">
                          <a:effectLst/>
                        </a:rPr>
                        <a:t>DevOps Engineer</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8</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573353283"/>
                  </a:ext>
                </a:extLst>
              </a:tr>
              <a:tr h="234267">
                <a:tc>
                  <a:txBody>
                    <a:bodyPr/>
                    <a:lstStyle/>
                    <a:p>
                      <a:pPr marL="0" marR="0">
                        <a:lnSpc>
                          <a:spcPct val="115000"/>
                        </a:lnSpc>
                        <a:spcAft>
                          <a:spcPts val="1000"/>
                        </a:spcAft>
                        <a:buNone/>
                      </a:pPr>
                      <a:r>
                        <a:rPr lang="en-US" sz="1050">
                          <a:effectLst/>
                        </a:rPr>
                        <a:t>Business Analyst</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dirty="0">
                          <a:effectLst/>
                        </a:rPr>
                        <a:t>8</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211764194"/>
                  </a:ext>
                </a:extLst>
              </a:tr>
              <a:tr h="234267">
                <a:tc>
                  <a:txBody>
                    <a:bodyPr/>
                    <a:lstStyle/>
                    <a:p>
                      <a:pPr marL="0" marR="0">
                        <a:lnSpc>
                          <a:spcPct val="115000"/>
                        </a:lnSpc>
                        <a:spcAft>
                          <a:spcPts val="1000"/>
                        </a:spcAft>
                        <a:buNone/>
                      </a:pPr>
                      <a:r>
                        <a:rPr lang="en-US" sz="1050">
                          <a:effectLst/>
                        </a:rPr>
                        <a:t>AI Engineer</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7</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30826971"/>
                  </a:ext>
                </a:extLst>
              </a:tr>
              <a:tr h="234267">
                <a:tc>
                  <a:txBody>
                    <a:bodyPr/>
                    <a:lstStyle/>
                    <a:p>
                      <a:pPr marL="0" marR="0">
                        <a:lnSpc>
                          <a:spcPct val="115000"/>
                        </a:lnSpc>
                        <a:spcAft>
                          <a:spcPts val="1000"/>
                        </a:spcAft>
                        <a:buNone/>
                      </a:pPr>
                      <a:r>
                        <a:rPr lang="en-US" sz="1050">
                          <a:effectLst/>
                        </a:rPr>
                        <a:t>Web Developer</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7</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61998309"/>
                  </a:ext>
                </a:extLst>
              </a:tr>
              <a:tr h="234267">
                <a:tc>
                  <a:txBody>
                    <a:bodyPr/>
                    <a:lstStyle/>
                    <a:p>
                      <a:pPr marL="0" marR="0">
                        <a:lnSpc>
                          <a:spcPct val="115000"/>
                        </a:lnSpc>
                        <a:spcAft>
                          <a:spcPts val="1000"/>
                        </a:spcAft>
                        <a:buNone/>
                      </a:pPr>
                      <a:r>
                        <a:rPr lang="en-US" sz="1050">
                          <a:effectLst/>
                        </a:rPr>
                        <a:t>SQL Developer</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7</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122159417"/>
                  </a:ext>
                </a:extLst>
              </a:tr>
              <a:tr h="234267">
                <a:tc>
                  <a:txBody>
                    <a:bodyPr/>
                    <a:lstStyle/>
                    <a:p>
                      <a:pPr marL="0" marR="0">
                        <a:lnSpc>
                          <a:spcPct val="115000"/>
                        </a:lnSpc>
                        <a:spcAft>
                          <a:spcPts val="1000"/>
                        </a:spcAft>
                        <a:buNone/>
                      </a:pPr>
                      <a:r>
                        <a:rPr lang="en-US" sz="1050">
                          <a:effectLst/>
                        </a:rPr>
                        <a:t>Power BI Developer</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6</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165761298"/>
                  </a:ext>
                </a:extLst>
              </a:tr>
              <a:tr h="234267">
                <a:tc>
                  <a:txBody>
                    <a:bodyPr/>
                    <a:lstStyle/>
                    <a:p>
                      <a:pPr marL="0" marR="0">
                        <a:lnSpc>
                          <a:spcPct val="115000"/>
                        </a:lnSpc>
                        <a:spcAft>
                          <a:spcPts val="1000"/>
                        </a:spcAft>
                        <a:buNone/>
                      </a:pPr>
                      <a:r>
                        <a:rPr lang="en-US" sz="1050">
                          <a:effectLst/>
                        </a:rPr>
                        <a:t>Software Engineer</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dirty="0">
                          <a:effectLst/>
                        </a:rPr>
                        <a:t>6</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153400600"/>
                  </a:ext>
                </a:extLst>
              </a:tr>
            </a:tbl>
          </a:graphicData>
        </a:graphic>
      </p:graphicFrame>
      <p:sp>
        <p:nvSpPr>
          <p:cNvPr id="7" name="TextBox 6">
            <a:extLst>
              <a:ext uri="{FF2B5EF4-FFF2-40B4-BE49-F238E27FC236}">
                <a16:creationId xmlns:a16="http://schemas.microsoft.com/office/drawing/2014/main" id="{4949101A-E7D1-3FF9-FCAE-3B0D4F6DD100}"/>
              </a:ext>
            </a:extLst>
          </p:cNvPr>
          <p:cNvSpPr txBox="1"/>
          <p:nvPr/>
        </p:nvSpPr>
        <p:spPr>
          <a:xfrm>
            <a:off x="1385455" y="547683"/>
            <a:ext cx="6096000" cy="262380"/>
          </a:xfrm>
          <a:prstGeom prst="rect">
            <a:avLst/>
          </a:prstGeom>
          <a:noFill/>
        </p:spPr>
        <p:txBody>
          <a:bodyPr wrap="square">
            <a:spAutoFit/>
          </a:bodyPr>
          <a:lstStyle/>
          <a:p>
            <a:pPr marL="0" marR="0">
              <a:lnSpc>
                <a:spcPct val="100000"/>
              </a:lnSpc>
              <a:spcAft>
                <a:spcPts val="1000"/>
              </a:spcAft>
              <a:buNone/>
            </a:pPr>
            <a:r>
              <a:rPr lang="en-US" sz="1800" dirty="0">
                <a:effectLst/>
                <a:latin typeface="+mn-lt"/>
                <a:ea typeface="MS Mincho" panose="02020609040205080304" pitchFamily="49" charset="-128"/>
                <a:cs typeface="Times New Roman" panose="02020603050405020304" pitchFamily="18" charset="0"/>
              </a:rPr>
              <a:t>Top job titles:</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p:txBody>
      </p:sp>
      <p:sp>
        <p:nvSpPr>
          <p:cNvPr id="9" name="TextBox 8">
            <a:extLst>
              <a:ext uri="{FF2B5EF4-FFF2-40B4-BE49-F238E27FC236}">
                <a16:creationId xmlns:a16="http://schemas.microsoft.com/office/drawing/2014/main" id="{832EC7A0-A026-6591-9636-1F075FB6D556}"/>
              </a:ext>
            </a:extLst>
          </p:cNvPr>
          <p:cNvSpPr txBox="1"/>
          <p:nvPr/>
        </p:nvSpPr>
        <p:spPr>
          <a:xfrm>
            <a:off x="1385455" y="3512557"/>
            <a:ext cx="6096000" cy="262380"/>
          </a:xfrm>
          <a:prstGeom prst="rect">
            <a:avLst/>
          </a:prstGeom>
          <a:noFill/>
        </p:spPr>
        <p:txBody>
          <a:bodyPr wrap="square">
            <a:spAutoFit/>
          </a:bodyPr>
          <a:lstStyle/>
          <a:p>
            <a:pPr marL="0" marR="0">
              <a:lnSpc>
                <a:spcPct val="100000"/>
              </a:lnSpc>
              <a:spcAft>
                <a:spcPts val="1000"/>
              </a:spcAft>
              <a:buNone/>
            </a:pPr>
            <a:r>
              <a:rPr lang="en-US" sz="1800" dirty="0">
                <a:effectLst/>
                <a:latin typeface="+mn-lt"/>
                <a:ea typeface="MS Mincho" panose="02020609040205080304" pitchFamily="49" charset="-128"/>
                <a:cs typeface="Times New Roman" panose="02020603050405020304" pitchFamily="18" charset="0"/>
              </a:rPr>
              <a:t>Top locations:</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6067B4C1-899A-9541-736E-CAE8FBE016A5}"/>
              </a:ext>
            </a:extLst>
          </p:cNvPr>
          <p:cNvGraphicFramePr>
            <a:graphicFrameLocks noGrp="1"/>
          </p:cNvGraphicFramePr>
          <p:nvPr>
            <p:extLst>
              <p:ext uri="{D42A27DB-BD31-4B8C-83A1-F6EECF244321}">
                <p14:modId xmlns:p14="http://schemas.microsoft.com/office/powerpoint/2010/main" val="2676078494"/>
              </p:ext>
            </p:extLst>
          </p:nvPr>
        </p:nvGraphicFramePr>
        <p:xfrm>
          <a:off x="2564937" y="3897745"/>
          <a:ext cx="7114772" cy="2715493"/>
        </p:xfrm>
        <a:graphic>
          <a:graphicData uri="http://schemas.openxmlformats.org/drawingml/2006/table">
            <a:tbl>
              <a:tblPr firstRow="1" firstCol="1" bandRow="1">
                <a:tableStyleId>{5C22544A-7EE6-4342-B048-85BDC9FD1C3A}</a:tableStyleId>
              </a:tblPr>
              <a:tblGrid>
                <a:gridCol w="3557386">
                  <a:extLst>
                    <a:ext uri="{9D8B030D-6E8A-4147-A177-3AD203B41FA5}">
                      <a16:colId xmlns:a16="http://schemas.microsoft.com/office/drawing/2014/main" val="1970492471"/>
                    </a:ext>
                  </a:extLst>
                </a:gridCol>
                <a:gridCol w="3557386">
                  <a:extLst>
                    <a:ext uri="{9D8B030D-6E8A-4147-A177-3AD203B41FA5}">
                      <a16:colId xmlns:a16="http://schemas.microsoft.com/office/drawing/2014/main" val="4274769279"/>
                    </a:ext>
                  </a:extLst>
                </a:gridCol>
              </a:tblGrid>
              <a:tr h="246863">
                <a:tc>
                  <a:txBody>
                    <a:bodyPr/>
                    <a:lstStyle/>
                    <a:p>
                      <a:pPr marL="0" marR="0">
                        <a:lnSpc>
                          <a:spcPct val="115000"/>
                        </a:lnSpc>
                        <a:spcAft>
                          <a:spcPts val="1000"/>
                        </a:spcAft>
                        <a:buNone/>
                      </a:pPr>
                      <a:r>
                        <a:rPr lang="en-US" sz="1050">
                          <a:effectLst/>
                        </a:rPr>
                        <a:t>Location</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Count</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037603443"/>
                  </a:ext>
                </a:extLst>
              </a:tr>
              <a:tr h="246863">
                <a:tc>
                  <a:txBody>
                    <a:bodyPr/>
                    <a:lstStyle/>
                    <a:p>
                      <a:pPr marL="0" marR="0">
                        <a:lnSpc>
                          <a:spcPct val="115000"/>
                        </a:lnSpc>
                        <a:spcAft>
                          <a:spcPts val="1000"/>
                        </a:spcAft>
                        <a:buNone/>
                      </a:pPr>
                      <a:r>
                        <a:rPr lang="en-US" sz="1050">
                          <a:effectLst/>
                        </a:rPr>
                        <a:t>Mumbai, Maharashtra</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13</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663472651"/>
                  </a:ext>
                </a:extLst>
              </a:tr>
              <a:tr h="246863">
                <a:tc>
                  <a:txBody>
                    <a:bodyPr/>
                    <a:lstStyle/>
                    <a:p>
                      <a:pPr marL="0" marR="0">
                        <a:lnSpc>
                          <a:spcPct val="115000"/>
                        </a:lnSpc>
                        <a:spcAft>
                          <a:spcPts val="1000"/>
                        </a:spcAft>
                        <a:buNone/>
                      </a:pPr>
                      <a:r>
                        <a:rPr lang="en-US" sz="1050">
                          <a:effectLst/>
                        </a:rPr>
                        <a:t>Remote, India</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11</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236954385"/>
                  </a:ext>
                </a:extLst>
              </a:tr>
              <a:tr h="246863">
                <a:tc>
                  <a:txBody>
                    <a:bodyPr/>
                    <a:lstStyle/>
                    <a:p>
                      <a:pPr marL="0" marR="0">
                        <a:lnSpc>
                          <a:spcPct val="115000"/>
                        </a:lnSpc>
                        <a:spcAft>
                          <a:spcPts val="1000"/>
                        </a:spcAft>
                        <a:buNone/>
                      </a:pPr>
                      <a:r>
                        <a:rPr lang="en-US" sz="1050">
                          <a:effectLst/>
                        </a:rPr>
                        <a:t>Gurugram, Haryana</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11</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229991073"/>
                  </a:ext>
                </a:extLst>
              </a:tr>
              <a:tr h="246863">
                <a:tc>
                  <a:txBody>
                    <a:bodyPr/>
                    <a:lstStyle/>
                    <a:p>
                      <a:pPr marL="0" marR="0">
                        <a:lnSpc>
                          <a:spcPct val="115000"/>
                        </a:lnSpc>
                        <a:spcAft>
                          <a:spcPts val="1000"/>
                        </a:spcAft>
                        <a:buNone/>
                      </a:pPr>
                      <a:r>
                        <a:rPr lang="en-US" sz="1050">
                          <a:effectLst/>
                        </a:rPr>
                        <a:t>Nagpur, Maharashtra</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10</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405884017"/>
                  </a:ext>
                </a:extLst>
              </a:tr>
              <a:tr h="246863">
                <a:tc>
                  <a:txBody>
                    <a:bodyPr/>
                    <a:lstStyle/>
                    <a:p>
                      <a:pPr marL="0" marR="0">
                        <a:lnSpc>
                          <a:spcPct val="115000"/>
                        </a:lnSpc>
                        <a:spcAft>
                          <a:spcPts val="1000"/>
                        </a:spcAft>
                        <a:buNone/>
                      </a:pPr>
                      <a:r>
                        <a:rPr lang="en-US" sz="1050">
                          <a:effectLst/>
                        </a:rPr>
                        <a:t>Ahmedabad, Gujarat</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10</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610831262"/>
                  </a:ext>
                </a:extLst>
              </a:tr>
              <a:tr h="246863">
                <a:tc>
                  <a:txBody>
                    <a:bodyPr/>
                    <a:lstStyle/>
                    <a:p>
                      <a:pPr marL="0" marR="0">
                        <a:lnSpc>
                          <a:spcPct val="115000"/>
                        </a:lnSpc>
                        <a:spcAft>
                          <a:spcPts val="1000"/>
                        </a:spcAft>
                        <a:buNone/>
                      </a:pPr>
                      <a:r>
                        <a:rPr lang="en-US" sz="1050">
                          <a:effectLst/>
                        </a:rPr>
                        <a:t>Chennai, Tamil Nadu</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8</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198297861"/>
                  </a:ext>
                </a:extLst>
              </a:tr>
              <a:tr h="246863">
                <a:tc>
                  <a:txBody>
                    <a:bodyPr/>
                    <a:lstStyle/>
                    <a:p>
                      <a:pPr marL="0" marR="0">
                        <a:lnSpc>
                          <a:spcPct val="115000"/>
                        </a:lnSpc>
                        <a:spcAft>
                          <a:spcPts val="1000"/>
                        </a:spcAft>
                        <a:buNone/>
                      </a:pPr>
                      <a:r>
                        <a:rPr lang="en-US" sz="1050">
                          <a:effectLst/>
                        </a:rPr>
                        <a:t>Noida, Uttar Pradesh</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8</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632288624"/>
                  </a:ext>
                </a:extLst>
              </a:tr>
              <a:tr h="246863">
                <a:tc>
                  <a:txBody>
                    <a:bodyPr/>
                    <a:lstStyle/>
                    <a:p>
                      <a:pPr marL="0" marR="0">
                        <a:lnSpc>
                          <a:spcPct val="115000"/>
                        </a:lnSpc>
                        <a:spcAft>
                          <a:spcPts val="1000"/>
                        </a:spcAft>
                        <a:buNone/>
                      </a:pPr>
                      <a:r>
                        <a:rPr lang="en-US" sz="1050">
                          <a:effectLst/>
                        </a:rPr>
                        <a:t>Bengaluru, Karnataka</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8</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412179916"/>
                  </a:ext>
                </a:extLst>
              </a:tr>
              <a:tr h="246863">
                <a:tc>
                  <a:txBody>
                    <a:bodyPr/>
                    <a:lstStyle/>
                    <a:p>
                      <a:pPr marL="0" marR="0">
                        <a:lnSpc>
                          <a:spcPct val="115000"/>
                        </a:lnSpc>
                        <a:spcAft>
                          <a:spcPts val="1000"/>
                        </a:spcAft>
                        <a:buNone/>
                      </a:pPr>
                      <a:r>
                        <a:rPr lang="en-US" sz="1050">
                          <a:effectLst/>
                        </a:rPr>
                        <a:t>Pune, Maharashtra</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6</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844018780"/>
                  </a:ext>
                </a:extLst>
              </a:tr>
              <a:tr h="246863">
                <a:tc>
                  <a:txBody>
                    <a:bodyPr/>
                    <a:lstStyle/>
                    <a:p>
                      <a:pPr marL="0" marR="0">
                        <a:lnSpc>
                          <a:spcPct val="115000"/>
                        </a:lnSpc>
                        <a:spcAft>
                          <a:spcPts val="1000"/>
                        </a:spcAft>
                        <a:buNone/>
                      </a:pPr>
                      <a:r>
                        <a:rPr lang="en-US" sz="1050">
                          <a:effectLst/>
                        </a:rPr>
                        <a:t>Nashik, Maharashtra</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dirty="0">
                          <a:effectLst/>
                        </a:rPr>
                        <a:t>6</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627124821"/>
                  </a:ext>
                </a:extLst>
              </a:tr>
            </a:tbl>
          </a:graphicData>
        </a:graphic>
      </p:graphicFrame>
    </p:spTree>
    <p:extLst>
      <p:ext uri="{BB962C8B-B14F-4D97-AF65-F5344CB8AC3E}">
        <p14:creationId xmlns:p14="http://schemas.microsoft.com/office/powerpoint/2010/main" val="1721856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77EBC0-BEEC-4C93-203D-53EC7822A793}"/>
              </a:ext>
            </a:extLst>
          </p:cNvPr>
          <p:cNvSpPr txBox="1"/>
          <p:nvPr/>
        </p:nvSpPr>
        <p:spPr>
          <a:xfrm>
            <a:off x="2623127" y="681223"/>
            <a:ext cx="7315200" cy="707886"/>
          </a:xfrm>
          <a:prstGeom prst="rect">
            <a:avLst/>
          </a:prstGeom>
          <a:noFill/>
        </p:spPr>
        <p:txBody>
          <a:bodyPr wrap="square">
            <a:spAutoFit/>
          </a:bodyPr>
          <a:lstStyle/>
          <a:p>
            <a:pPr algn="ctr"/>
            <a:r>
              <a:rPr lang="en-US" sz="4000" b="1" i="1" u="sng" dirty="0">
                <a:solidFill>
                  <a:schemeClr val="bg2">
                    <a:lumMod val="25000"/>
                  </a:schemeClr>
                </a:solidFill>
              </a:rPr>
              <a:t>Skill Taxonomy Development</a:t>
            </a:r>
          </a:p>
        </p:txBody>
      </p:sp>
      <p:graphicFrame>
        <p:nvGraphicFramePr>
          <p:cNvPr id="4" name="Table 3">
            <a:extLst>
              <a:ext uri="{FF2B5EF4-FFF2-40B4-BE49-F238E27FC236}">
                <a16:creationId xmlns:a16="http://schemas.microsoft.com/office/drawing/2014/main" id="{F03B4E3F-2073-22F6-D010-92B676412396}"/>
              </a:ext>
            </a:extLst>
          </p:cNvPr>
          <p:cNvGraphicFramePr>
            <a:graphicFrameLocks noGrp="1"/>
          </p:cNvGraphicFramePr>
          <p:nvPr>
            <p:extLst>
              <p:ext uri="{D42A27DB-BD31-4B8C-83A1-F6EECF244321}">
                <p14:modId xmlns:p14="http://schemas.microsoft.com/office/powerpoint/2010/main" val="2368266821"/>
              </p:ext>
            </p:extLst>
          </p:nvPr>
        </p:nvGraphicFramePr>
        <p:xfrm>
          <a:off x="2041236" y="2124365"/>
          <a:ext cx="8857674" cy="3953162"/>
        </p:xfrm>
        <a:graphic>
          <a:graphicData uri="http://schemas.openxmlformats.org/drawingml/2006/table">
            <a:tbl>
              <a:tblPr firstRow="1" firstCol="1" bandRow="1">
                <a:tableStyleId>{5C22544A-7EE6-4342-B048-85BDC9FD1C3A}</a:tableStyleId>
              </a:tblPr>
              <a:tblGrid>
                <a:gridCol w="4428837">
                  <a:extLst>
                    <a:ext uri="{9D8B030D-6E8A-4147-A177-3AD203B41FA5}">
                      <a16:colId xmlns:a16="http://schemas.microsoft.com/office/drawing/2014/main" val="66360279"/>
                    </a:ext>
                  </a:extLst>
                </a:gridCol>
                <a:gridCol w="4428837">
                  <a:extLst>
                    <a:ext uri="{9D8B030D-6E8A-4147-A177-3AD203B41FA5}">
                      <a16:colId xmlns:a16="http://schemas.microsoft.com/office/drawing/2014/main" val="2991273124"/>
                    </a:ext>
                  </a:extLst>
                </a:gridCol>
              </a:tblGrid>
              <a:tr h="350665">
                <a:tc>
                  <a:txBody>
                    <a:bodyPr/>
                    <a:lstStyle/>
                    <a:p>
                      <a:pPr marL="0" marR="0">
                        <a:lnSpc>
                          <a:spcPct val="115000"/>
                        </a:lnSpc>
                        <a:spcAft>
                          <a:spcPts val="1000"/>
                        </a:spcAft>
                        <a:buNone/>
                      </a:pPr>
                      <a:r>
                        <a:rPr lang="en-US" sz="1050">
                          <a:effectLst/>
                        </a:rPr>
                        <a:t>Category</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Example Skills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310419455"/>
                  </a:ext>
                </a:extLst>
              </a:tr>
              <a:tr h="733279">
                <a:tc>
                  <a:txBody>
                    <a:bodyPr/>
                    <a:lstStyle/>
                    <a:p>
                      <a:pPr marL="0" marR="0">
                        <a:lnSpc>
                          <a:spcPct val="115000"/>
                        </a:lnSpc>
                        <a:spcAft>
                          <a:spcPts val="1000"/>
                        </a:spcAft>
                        <a:buNone/>
                      </a:pPr>
                      <a:r>
                        <a:rPr lang="en-US" sz="1050">
                          <a:effectLst/>
                        </a:rPr>
                        <a:t>Programming</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Python, Java, C++, JavaScript, TypeScript, C#, Go, PHP...</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100309922"/>
                  </a:ext>
                </a:extLst>
              </a:tr>
              <a:tr h="350665">
                <a:tc>
                  <a:txBody>
                    <a:bodyPr/>
                    <a:lstStyle/>
                    <a:p>
                      <a:pPr marL="0" marR="0">
                        <a:lnSpc>
                          <a:spcPct val="115000"/>
                        </a:lnSpc>
                        <a:spcAft>
                          <a:spcPts val="1000"/>
                        </a:spcAft>
                        <a:buNone/>
                      </a:pPr>
                      <a:r>
                        <a:rPr lang="en-US" sz="1050">
                          <a:effectLst/>
                        </a:rPr>
                        <a:t>Database</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SQL, MySQL, PostgreSQL, MongoDB, Oracle, SQLite</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131123573"/>
                  </a:ext>
                </a:extLst>
              </a:tr>
              <a:tr h="350665">
                <a:tc>
                  <a:txBody>
                    <a:bodyPr/>
                    <a:lstStyle/>
                    <a:p>
                      <a:pPr marL="0" marR="0">
                        <a:lnSpc>
                          <a:spcPct val="115000"/>
                        </a:lnSpc>
                        <a:spcAft>
                          <a:spcPts val="1000"/>
                        </a:spcAft>
                        <a:buNone/>
                      </a:pPr>
                      <a:r>
                        <a:rPr lang="en-US" sz="1050">
                          <a:effectLst/>
                        </a:rPr>
                        <a:t>Analytics/BI</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Power BI, Tableau, Excel, Data Analysis, Statistics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007595880"/>
                  </a:ext>
                </a:extLst>
              </a:tr>
              <a:tr h="733279">
                <a:tc>
                  <a:txBody>
                    <a:bodyPr/>
                    <a:lstStyle/>
                    <a:p>
                      <a:pPr marL="0" marR="0">
                        <a:lnSpc>
                          <a:spcPct val="115000"/>
                        </a:lnSpc>
                        <a:spcAft>
                          <a:spcPts val="1000"/>
                        </a:spcAft>
                        <a:buNone/>
                      </a:pPr>
                      <a:r>
                        <a:rPr lang="en-US" sz="1050">
                          <a:effectLst/>
                        </a:rPr>
                        <a:t>Machine Learning</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Scikit-learn, TensorFlow, PyTorch, Machine Learning, Deep Learning, NLP, LLM, Computer Vision</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133592932"/>
                  </a:ext>
                </a:extLst>
              </a:tr>
              <a:tr h="350665">
                <a:tc>
                  <a:txBody>
                    <a:bodyPr/>
                    <a:lstStyle/>
                    <a:p>
                      <a:pPr marL="0" marR="0">
                        <a:lnSpc>
                          <a:spcPct val="115000"/>
                        </a:lnSpc>
                        <a:spcAft>
                          <a:spcPts val="1000"/>
                        </a:spcAft>
                        <a:buNone/>
                      </a:pPr>
                      <a:r>
                        <a:rPr lang="en-US" sz="1050">
                          <a:effectLst/>
                        </a:rPr>
                        <a:t>Cloud</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AWS, Azure, GCP, Google Cloud</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992961769"/>
                  </a:ext>
                </a:extLst>
              </a:tr>
              <a:tr h="350665">
                <a:tc>
                  <a:txBody>
                    <a:bodyPr/>
                    <a:lstStyle/>
                    <a:p>
                      <a:pPr marL="0" marR="0">
                        <a:lnSpc>
                          <a:spcPct val="115000"/>
                        </a:lnSpc>
                        <a:spcAft>
                          <a:spcPts val="1000"/>
                        </a:spcAft>
                        <a:buNone/>
                      </a:pPr>
                      <a:r>
                        <a:rPr lang="en-US" sz="1050" dirty="0">
                          <a:effectLst/>
                        </a:rPr>
                        <a:t>Big Data</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Spark, Hadoop, Kafka</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008153980"/>
                  </a:ext>
                </a:extLst>
              </a:tr>
              <a:tr h="733279">
                <a:tc>
                  <a:txBody>
                    <a:bodyPr/>
                    <a:lstStyle/>
                    <a:p>
                      <a:pPr marL="0" marR="0">
                        <a:lnSpc>
                          <a:spcPct val="115000"/>
                        </a:lnSpc>
                        <a:spcAft>
                          <a:spcPts val="1000"/>
                        </a:spcAft>
                        <a:buNone/>
                      </a:pPr>
                      <a:r>
                        <a:rPr lang="en-US" sz="1050">
                          <a:effectLst/>
                        </a:rPr>
                        <a:t>DevOps/Tools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dirty="0">
                          <a:effectLst/>
                        </a:rPr>
                        <a:t>Docker, Kubernetes, Git, Jenkins, REST API, Microservices, Spring Boot, Hibernate</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366894166"/>
                  </a:ext>
                </a:extLst>
              </a:tr>
            </a:tbl>
          </a:graphicData>
        </a:graphic>
      </p:graphicFrame>
    </p:spTree>
    <p:extLst>
      <p:ext uri="{BB962C8B-B14F-4D97-AF65-F5344CB8AC3E}">
        <p14:creationId xmlns:p14="http://schemas.microsoft.com/office/powerpoint/2010/main" val="1418905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F6A2C1-FE5C-4207-45B1-C69D4CD7B69D}"/>
              </a:ext>
            </a:extLst>
          </p:cNvPr>
          <p:cNvSpPr txBox="1"/>
          <p:nvPr/>
        </p:nvSpPr>
        <p:spPr>
          <a:xfrm>
            <a:off x="2087417" y="644278"/>
            <a:ext cx="8756074" cy="707886"/>
          </a:xfrm>
          <a:prstGeom prst="rect">
            <a:avLst/>
          </a:prstGeom>
          <a:noFill/>
        </p:spPr>
        <p:txBody>
          <a:bodyPr wrap="square">
            <a:spAutoFit/>
          </a:bodyPr>
          <a:lstStyle/>
          <a:p>
            <a:pPr algn="ctr"/>
            <a:r>
              <a:rPr lang="en-US" sz="4000" b="1" i="1" u="sng" dirty="0">
                <a:solidFill>
                  <a:schemeClr val="bg2">
                    <a:lumMod val="25000"/>
                  </a:schemeClr>
                </a:solidFill>
              </a:rPr>
              <a:t>Statistical &amp; Semantic NLP Techniques</a:t>
            </a:r>
          </a:p>
        </p:txBody>
      </p:sp>
      <p:sp>
        <p:nvSpPr>
          <p:cNvPr id="5" name="TextBox 4">
            <a:extLst>
              <a:ext uri="{FF2B5EF4-FFF2-40B4-BE49-F238E27FC236}">
                <a16:creationId xmlns:a16="http://schemas.microsoft.com/office/drawing/2014/main" id="{09C105FE-0007-C220-A156-D1C8EDBCE235}"/>
              </a:ext>
            </a:extLst>
          </p:cNvPr>
          <p:cNvSpPr txBox="1"/>
          <p:nvPr/>
        </p:nvSpPr>
        <p:spPr>
          <a:xfrm>
            <a:off x="1819563" y="1941827"/>
            <a:ext cx="9291781" cy="646331"/>
          </a:xfrm>
          <a:prstGeom prst="rect">
            <a:avLst/>
          </a:prstGeom>
          <a:noFill/>
        </p:spPr>
        <p:txBody>
          <a:bodyPr wrap="square">
            <a:spAutoFit/>
          </a:bodyPr>
          <a:lstStyle/>
          <a:p>
            <a:pPr marL="0" marR="0">
              <a:lnSpc>
                <a:spcPct val="100000"/>
              </a:lnSpc>
              <a:spcAft>
                <a:spcPts val="1000"/>
              </a:spcAft>
              <a:buNone/>
            </a:pPr>
            <a:r>
              <a:rPr lang="en-US" sz="1800" dirty="0">
                <a:effectLst/>
                <a:latin typeface="+mn-lt"/>
                <a:ea typeface="MS Mincho" panose="02020609040205080304" pitchFamily="49" charset="-128"/>
                <a:cs typeface="Times New Roman" panose="02020603050405020304" pitchFamily="18" charset="0"/>
              </a:rPr>
              <a:t>TF-IDF identifies terms that are important across job descriptions. N-Grams capture multi-word skills such as Machine Learning, Power BI and Natural Language Processing.</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p:txBody>
      </p:sp>
      <p:graphicFrame>
        <p:nvGraphicFramePr>
          <p:cNvPr id="6" name="Table 5">
            <a:extLst>
              <a:ext uri="{FF2B5EF4-FFF2-40B4-BE49-F238E27FC236}">
                <a16:creationId xmlns:a16="http://schemas.microsoft.com/office/drawing/2014/main" id="{3EDC099A-D501-3F7E-8760-4340E6BF8FCE}"/>
              </a:ext>
            </a:extLst>
          </p:cNvPr>
          <p:cNvGraphicFramePr>
            <a:graphicFrameLocks noGrp="1"/>
          </p:cNvGraphicFramePr>
          <p:nvPr>
            <p:extLst>
              <p:ext uri="{D42A27DB-BD31-4B8C-83A1-F6EECF244321}">
                <p14:modId xmlns:p14="http://schemas.microsoft.com/office/powerpoint/2010/main" val="3321022326"/>
              </p:ext>
            </p:extLst>
          </p:nvPr>
        </p:nvGraphicFramePr>
        <p:xfrm>
          <a:off x="2927926" y="3150488"/>
          <a:ext cx="6973456" cy="2816198"/>
        </p:xfrm>
        <a:graphic>
          <a:graphicData uri="http://schemas.openxmlformats.org/drawingml/2006/table">
            <a:tbl>
              <a:tblPr firstRow="1" firstCol="1" bandRow="1">
                <a:tableStyleId>{5C22544A-7EE6-4342-B048-85BDC9FD1C3A}</a:tableStyleId>
              </a:tblPr>
              <a:tblGrid>
                <a:gridCol w="3486728">
                  <a:extLst>
                    <a:ext uri="{9D8B030D-6E8A-4147-A177-3AD203B41FA5}">
                      <a16:colId xmlns:a16="http://schemas.microsoft.com/office/drawing/2014/main" val="1913355641"/>
                    </a:ext>
                  </a:extLst>
                </a:gridCol>
                <a:gridCol w="3486728">
                  <a:extLst>
                    <a:ext uri="{9D8B030D-6E8A-4147-A177-3AD203B41FA5}">
                      <a16:colId xmlns:a16="http://schemas.microsoft.com/office/drawing/2014/main" val="1039881850"/>
                    </a:ext>
                  </a:extLst>
                </a:gridCol>
              </a:tblGrid>
              <a:tr h="256018">
                <a:tc>
                  <a:txBody>
                    <a:bodyPr/>
                    <a:lstStyle/>
                    <a:p>
                      <a:pPr marL="0" marR="0">
                        <a:lnSpc>
                          <a:spcPct val="115000"/>
                        </a:lnSpc>
                        <a:spcAft>
                          <a:spcPts val="1000"/>
                        </a:spcAft>
                        <a:buNone/>
                      </a:pPr>
                      <a:r>
                        <a:rPr lang="en-US" sz="1050">
                          <a:effectLst/>
                        </a:rPr>
                        <a:t>Top TF-IDF Term</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Mean TF-IDF</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42769185"/>
                  </a:ext>
                </a:extLst>
              </a:tr>
              <a:tr h="256018">
                <a:tc>
                  <a:txBody>
                    <a:bodyPr/>
                    <a:lstStyle/>
                    <a:p>
                      <a:pPr marL="0" marR="0">
                        <a:lnSpc>
                          <a:spcPct val="115000"/>
                        </a:lnSpc>
                        <a:spcAft>
                          <a:spcPts val="1000"/>
                        </a:spcAft>
                        <a:buNone/>
                      </a:pPr>
                      <a:r>
                        <a:rPr lang="en-US" sz="1050">
                          <a:effectLst/>
                        </a:rPr>
                        <a:t>experience</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0.0995</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646636865"/>
                  </a:ext>
                </a:extLst>
              </a:tr>
              <a:tr h="256018">
                <a:tc>
                  <a:txBody>
                    <a:bodyPr/>
                    <a:lstStyle/>
                    <a:p>
                      <a:pPr marL="0" marR="0">
                        <a:lnSpc>
                          <a:spcPct val="115000"/>
                        </a:lnSpc>
                        <a:spcAft>
                          <a:spcPts val="1000"/>
                        </a:spcAft>
                        <a:buNone/>
                      </a:pPr>
                      <a:r>
                        <a:rPr lang="en-US" sz="1050">
                          <a:effectLst/>
                        </a:rPr>
                        <a:t>business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0.0549</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447797359"/>
                  </a:ext>
                </a:extLst>
              </a:tr>
              <a:tr h="256018">
                <a:tc>
                  <a:txBody>
                    <a:bodyPr/>
                    <a:lstStyle/>
                    <a:p>
                      <a:pPr marL="0" marR="0">
                        <a:lnSpc>
                          <a:spcPct val="115000"/>
                        </a:lnSpc>
                        <a:spcAft>
                          <a:spcPts val="1000"/>
                        </a:spcAft>
                        <a:buNone/>
                      </a:pPr>
                      <a:r>
                        <a:rPr lang="en-US" sz="1050">
                          <a:effectLst/>
                        </a:rPr>
                        <a:t>sql</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0.0529</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780661829"/>
                  </a:ext>
                </a:extLst>
              </a:tr>
              <a:tr h="256018">
                <a:tc>
                  <a:txBody>
                    <a:bodyPr/>
                    <a:lstStyle/>
                    <a:p>
                      <a:pPr marL="0" marR="0">
                        <a:lnSpc>
                          <a:spcPct val="115000"/>
                        </a:lnSpc>
                        <a:spcAft>
                          <a:spcPts val="1000"/>
                        </a:spcAft>
                        <a:buNone/>
                      </a:pPr>
                      <a:r>
                        <a:rPr lang="en-US" sz="1050">
                          <a:effectLst/>
                        </a:rPr>
                        <a:t>solutions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0.0498</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417165493"/>
                  </a:ext>
                </a:extLst>
              </a:tr>
              <a:tr h="256018">
                <a:tc>
                  <a:txBody>
                    <a:bodyPr/>
                    <a:lstStyle/>
                    <a:p>
                      <a:pPr marL="0" marR="0">
                        <a:lnSpc>
                          <a:spcPct val="115000"/>
                        </a:lnSpc>
                        <a:spcAft>
                          <a:spcPts val="1000"/>
                        </a:spcAft>
                        <a:buNone/>
                      </a:pPr>
                      <a:r>
                        <a:rPr lang="en-US" sz="1050">
                          <a:effectLst/>
                        </a:rPr>
                        <a:t>candidate</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0.0498</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070742871"/>
                  </a:ext>
                </a:extLst>
              </a:tr>
              <a:tr h="256018">
                <a:tc>
                  <a:txBody>
                    <a:bodyPr/>
                    <a:lstStyle/>
                    <a:p>
                      <a:pPr marL="0" marR="0">
                        <a:lnSpc>
                          <a:spcPct val="115000"/>
                        </a:lnSpc>
                        <a:spcAft>
                          <a:spcPts val="1000"/>
                        </a:spcAft>
                        <a:buNone/>
                      </a:pPr>
                      <a:r>
                        <a:rPr lang="en-US" sz="1050">
                          <a:effectLst/>
                        </a:rPr>
                        <a:t>communicate</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0.0498</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406277876"/>
                  </a:ext>
                </a:extLst>
              </a:tr>
              <a:tr h="256018">
                <a:tc>
                  <a:txBody>
                    <a:bodyPr/>
                    <a:lstStyle/>
                    <a:p>
                      <a:pPr marL="0" marR="0">
                        <a:lnSpc>
                          <a:spcPct val="115000"/>
                        </a:lnSpc>
                        <a:spcAft>
                          <a:spcPts val="1000"/>
                        </a:spcAft>
                        <a:buNone/>
                      </a:pPr>
                      <a:r>
                        <a:rPr lang="en-US" sz="1050">
                          <a:effectLst/>
                        </a:rPr>
                        <a:t>technical problems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0.0498</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72741476"/>
                  </a:ext>
                </a:extLst>
              </a:tr>
              <a:tr h="256018">
                <a:tc>
                  <a:txBody>
                    <a:bodyPr/>
                    <a:lstStyle/>
                    <a:p>
                      <a:pPr marL="0" marR="0">
                        <a:lnSpc>
                          <a:spcPct val="115000"/>
                        </a:lnSpc>
                        <a:spcAft>
                          <a:spcPts val="1000"/>
                        </a:spcAft>
                        <a:buNone/>
                      </a:pPr>
                      <a:r>
                        <a:rPr lang="en-US" sz="1050">
                          <a:effectLst/>
                        </a:rPr>
                        <a:t>solutions solve</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0.0498</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462818459"/>
                  </a:ext>
                </a:extLst>
              </a:tr>
              <a:tr h="256018">
                <a:tc>
                  <a:txBody>
                    <a:bodyPr/>
                    <a:lstStyle/>
                    <a:p>
                      <a:pPr marL="0" marR="0">
                        <a:lnSpc>
                          <a:spcPct val="115000"/>
                        </a:lnSpc>
                        <a:spcAft>
                          <a:spcPts val="1000"/>
                        </a:spcAft>
                        <a:buNone/>
                      </a:pPr>
                      <a:r>
                        <a:rPr lang="en-US" sz="1050">
                          <a:effectLst/>
                        </a:rPr>
                        <a:t>technical</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0.0498</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74904048"/>
                  </a:ext>
                </a:extLst>
              </a:tr>
              <a:tr h="256018">
                <a:tc>
                  <a:txBody>
                    <a:bodyPr/>
                    <a:lstStyle/>
                    <a:p>
                      <a:pPr marL="0" marR="0">
                        <a:lnSpc>
                          <a:spcPct val="115000"/>
                        </a:lnSpc>
                        <a:spcAft>
                          <a:spcPts val="1000"/>
                        </a:spcAft>
                        <a:buNone/>
                      </a:pPr>
                      <a:r>
                        <a:rPr lang="en-US" sz="1050">
                          <a:effectLst/>
                        </a:rPr>
                        <a:t>business requirements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dirty="0">
                          <a:effectLst/>
                        </a:rPr>
                        <a:t>0.0498</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541410621"/>
                  </a:ext>
                </a:extLst>
              </a:tr>
            </a:tbl>
          </a:graphicData>
        </a:graphic>
      </p:graphicFrame>
    </p:spTree>
    <p:extLst>
      <p:ext uri="{BB962C8B-B14F-4D97-AF65-F5344CB8AC3E}">
        <p14:creationId xmlns:p14="http://schemas.microsoft.com/office/powerpoint/2010/main" val="3324670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5CAFA8-CEC5-E381-2666-DF9864BB222E}"/>
              </a:ext>
            </a:extLst>
          </p:cNvPr>
          <p:cNvSpPr txBox="1"/>
          <p:nvPr/>
        </p:nvSpPr>
        <p:spPr>
          <a:xfrm>
            <a:off x="2650835" y="673122"/>
            <a:ext cx="7481455" cy="707886"/>
          </a:xfrm>
          <a:prstGeom prst="rect">
            <a:avLst/>
          </a:prstGeom>
          <a:noFill/>
        </p:spPr>
        <p:txBody>
          <a:bodyPr wrap="square">
            <a:spAutoFit/>
          </a:bodyPr>
          <a:lstStyle/>
          <a:p>
            <a:pPr marR="0" algn="ctr">
              <a:lnSpc>
                <a:spcPct val="100000"/>
              </a:lnSpc>
              <a:spcBef>
                <a:spcPts val="2400"/>
              </a:spcBef>
              <a:buNone/>
            </a:pPr>
            <a:r>
              <a:rPr lang="en-US" sz="4000" b="1" i="1" u="sng" dirty="0">
                <a:solidFill>
                  <a:schemeClr val="bg2">
                    <a:lumMod val="25000"/>
                  </a:schemeClr>
                </a:solidFill>
              </a:rPr>
              <a:t>Named Entity Recognition (NER)</a:t>
            </a:r>
          </a:p>
        </p:txBody>
      </p:sp>
      <p:sp>
        <p:nvSpPr>
          <p:cNvPr id="5" name="TextBox 4">
            <a:extLst>
              <a:ext uri="{FF2B5EF4-FFF2-40B4-BE49-F238E27FC236}">
                <a16:creationId xmlns:a16="http://schemas.microsoft.com/office/drawing/2014/main" id="{B13B7EFB-E63A-C413-4326-C46E1DADC6C4}"/>
              </a:ext>
            </a:extLst>
          </p:cNvPr>
          <p:cNvSpPr txBox="1"/>
          <p:nvPr/>
        </p:nvSpPr>
        <p:spPr>
          <a:xfrm>
            <a:off x="1736436" y="2070032"/>
            <a:ext cx="9762836" cy="1605568"/>
          </a:xfrm>
          <a:prstGeom prst="rect">
            <a:avLst/>
          </a:prstGeom>
          <a:noFill/>
        </p:spPr>
        <p:txBody>
          <a:bodyPr wrap="square">
            <a:spAutoFit/>
          </a:bodyPr>
          <a:lstStyle/>
          <a:p>
            <a:pPr marL="285750" marR="0" indent="-285750">
              <a:lnSpc>
                <a:spcPct val="100000"/>
              </a:lnSpc>
              <a:spcAft>
                <a:spcPts val="1000"/>
              </a:spcAft>
              <a:buFont typeface="Arial" panose="020B0604020202020204" pitchFamily="34" charset="0"/>
              <a:buChar char="•"/>
            </a:pPr>
            <a:r>
              <a:rPr lang="en-US" sz="1800" dirty="0" err="1">
                <a:effectLst/>
                <a:latin typeface="+mn-lt"/>
                <a:ea typeface="MS Mincho" panose="02020609040205080304" pitchFamily="49" charset="-128"/>
                <a:cs typeface="Times New Roman" panose="02020603050405020304" pitchFamily="18" charset="0"/>
              </a:rPr>
              <a:t>spaCy</a:t>
            </a:r>
            <a:r>
              <a:rPr lang="en-US" sz="1800" dirty="0">
                <a:effectLst/>
                <a:latin typeface="+mn-lt"/>
                <a:ea typeface="MS Mincho" panose="02020609040205080304" pitchFamily="49" charset="-128"/>
                <a:cs typeface="Times New Roman" panose="02020603050405020304" pitchFamily="18" charset="0"/>
              </a:rPr>
              <a:t> NER is used to study standard entity recognition and its limitations for technical skills. Standard NER models may recognize general entities such as organizations and locations but are not guaranteed to recognize domain-specific technical skills.</a:t>
            </a:r>
          </a:p>
          <a:p>
            <a:pPr marL="285750" marR="0" indent="-285750">
              <a:lnSpc>
                <a:spcPct val="100000"/>
              </a:lnSpc>
              <a:spcAft>
                <a:spcPts val="1000"/>
              </a:spcAft>
              <a:buFont typeface="Arial" panose="020B0604020202020204" pitchFamily="34" charset="0"/>
              <a:buChar char="•"/>
            </a:pPr>
            <a:r>
              <a:rPr lang="en-US" sz="1800" dirty="0">
                <a:effectLst/>
                <a:latin typeface="+mn-lt"/>
                <a:ea typeface="MS Mincho" panose="02020609040205080304" pitchFamily="49" charset="-128"/>
                <a:cs typeface="Times New Roman" panose="02020603050405020304" pitchFamily="18" charset="0"/>
              </a:rPr>
              <a:t>A custom SKILL entity approach can be built using the project's taxonomy and phrase matching, which is better aligned with recruitment skill extraction.</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199272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E92652-B94C-D3D9-00D8-1A2139E72154}"/>
              </a:ext>
            </a:extLst>
          </p:cNvPr>
          <p:cNvSpPr txBox="1"/>
          <p:nvPr/>
        </p:nvSpPr>
        <p:spPr>
          <a:xfrm>
            <a:off x="3048000" y="605024"/>
            <a:ext cx="6096000" cy="707886"/>
          </a:xfrm>
          <a:prstGeom prst="rect">
            <a:avLst/>
          </a:prstGeom>
          <a:noFill/>
        </p:spPr>
        <p:txBody>
          <a:bodyPr wrap="square">
            <a:spAutoFit/>
          </a:bodyPr>
          <a:lstStyle/>
          <a:p>
            <a:pPr algn="ctr">
              <a:spcBef>
                <a:spcPts val="2400"/>
              </a:spcBef>
            </a:pPr>
            <a:r>
              <a:rPr lang="en-US" sz="4000" b="1" i="1" u="sng" dirty="0">
                <a:solidFill>
                  <a:schemeClr val="bg2">
                    <a:lumMod val="25000"/>
                  </a:schemeClr>
                </a:solidFill>
              </a:rPr>
              <a:t>Machine Learning Model</a:t>
            </a:r>
          </a:p>
        </p:txBody>
      </p:sp>
      <p:sp>
        <p:nvSpPr>
          <p:cNvPr id="5" name="TextBox 4">
            <a:extLst>
              <a:ext uri="{FF2B5EF4-FFF2-40B4-BE49-F238E27FC236}">
                <a16:creationId xmlns:a16="http://schemas.microsoft.com/office/drawing/2014/main" id="{F7226995-105F-E56B-17F8-B730D24AFA85}"/>
              </a:ext>
            </a:extLst>
          </p:cNvPr>
          <p:cNvSpPr txBox="1"/>
          <p:nvPr/>
        </p:nvSpPr>
        <p:spPr>
          <a:xfrm>
            <a:off x="1551708" y="1802735"/>
            <a:ext cx="9975273" cy="646331"/>
          </a:xfrm>
          <a:prstGeom prst="rect">
            <a:avLst/>
          </a:prstGeom>
          <a:noFill/>
        </p:spPr>
        <p:txBody>
          <a:bodyPr wrap="square">
            <a:spAutoFit/>
          </a:bodyPr>
          <a:lstStyle/>
          <a:p>
            <a:pPr marL="0" marR="0">
              <a:lnSpc>
                <a:spcPct val="100000"/>
              </a:lnSpc>
              <a:spcAft>
                <a:spcPts val="1000"/>
              </a:spcAft>
              <a:buNone/>
            </a:pPr>
            <a:r>
              <a:rPr lang="en-US" sz="1800" dirty="0">
                <a:effectLst/>
                <a:latin typeface="+mn-lt"/>
                <a:ea typeface="MS Mincho" panose="02020609040205080304" pitchFamily="49" charset="-128"/>
                <a:cs typeface="Times New Roman" panose="02020603050405020304" pitchFamily="18" charset="0"/>
              </a:rPr>
              <a:t>A supervised skill-category classifier was built using TF-IDF features and Logistic Regression. Training examples consist of canonical skill names and available aliases mapped to taxonomy categories.</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p:txBody>
      </p:sp>
      <p:graphicFrame>
        <p:nvGraphicFramePr>
          <p:cNvPr id="6" name="Table 5">
            <a:extLst>
              <a:ext uri="{FF2B5EF4-FFF2-40B4-BE49-F238E27FC236}">
                <a16:creationId xmlns:a16="http://schemas.microsoft.com/office/drawing/2014/main" id="{D38A98B0-7919-DD30-696A-C2D854AF82C3}"/>
              </a:ext>
            </a:extLst>
          </p:cNvPr>
          <p:cNvGraphicFramePr>
            <a:graphicFrameLocks noGrp="1"/>
          </p:cNvGraphicFramePr>
          <p:nvPr>
            <p:extLst>
              <p:ext uri="{D42A27DB-BD31-4B8C-83A1-F6EECF244321}">
                <p14:modId xmlns:p14="http://schemas.microsoft.com/office/powerpoint/2010/main" val="1870352776"/>
              </p:ext>
            </p:extLst>
          </p:nvPr>
        </p:nvGraphicFramePr>
        <p:xfrm>
          <a:off x="3017520" y="3352800"/>
          <a:ext cx="6309360" cy="1810325"/>
        </p:xfrm>
        <a:graphic>
          <a:graphicData uri="http://schemas.openxmlformats.org/drawingml/2006/table">
            <a:tbl>
              <a:tblPr firstRow="1" firstCol="1" bandRow="1">
                <a:tableStyleId>{5C22544A-7EE6-4342-B048-85BDC9FD1C3A}</a:tableStyleId>
              </a:tblPr>
              <a:tblGrid>
                <a:gridCol w="3154680">
                  <a:extLst>
                    <a:ext uri="{9D8B030D-6E8A-4147-A177-3AD203B41FA5}">
                      <a16:colId xmlns:a16="http://schemas.microsoft.com/office/drawing/2014/main" val="1939353621"/>
                    </a:ext>
                  </a:extLst>
                </a:gridCol>
                <a:gridCol w="3154680">
                  <a:extLst>
                    <a:ext uri="{9D8B030D-6E8A-4147-A177-3AD203B41FA5}">
                      <a16:colId xmlns:a16="http://schemas.microsoft.com/office/drawing/2014/main" val="1406335032"/>
                    </a:ext>
                  </a:extLst>
                </a:gridCol>
              </a:tblGrid>
              <a:tr h="362065">
                <a:tc>
                  <a:txBody>
                    <a:bodyPr/>
                    <a:lstStyle/>
                    <a:p>
                      <a:pPr marL="0" marR="0">
                        <a:lnSpc>
                          <a:spcPct val="115000"/>
                        </a:lnSpc>
                        <a:spcAft>
                          <a:spcPts val="1000"/>
                        </a:spcAft>
                        <a:buNone/>
                      </a:pPr>
                      <a:r>
                        <a:rPr lang="en-US" sz="1050">
                          <a:effectLst/>
                        </a:rPr>
                        <a:t>Metric</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Result</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57198588"/>
                  </a:ext>
                </a:extLst>
              </a:tr>
              <a:tr h="362065">
                <a:tc>
                  <a:txBody>
                    <a:bodyPr/>
                    <a:lstStyle/>
                    <a:p>
                      <a:pPr marL="0" marR="0">
                        <a:lnSpc>
                          <a:spcPct val="115000"/>
                        </a:lnSpc>
                        <a:spcAft>
                          <a:spcPts val="1000"/>
                        </a:spcAft>
                        <a:buNone/>
                      </a:pPr>
                      <a:r>
                        <a:rPr lang="en-US" sz="1050">
                          <a:effectLst/>
                        </a:rPr>
                        <a:t>Accuracy</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0.400</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939210364"/>
                  </a:ext>
                </a:extLst>
              </a:tr>
              <a:tr h="362065">
                <a:tc>
                  <a:txBody>
                    <a:bodyPr/>
                    <a:lstStyle/>
                    <a:p>
                      <a:pPr marL="0" marR="0">
                        <a:lnSpc>
                          <a:spcPct val="115000"/>
                        </a:lnSpc>
                        <a:spcAft>
                          <a:spcPts val="1000"/>
                        </a:spcAft>
                        <a:buNone/>
                      </a:pPr>
                      <a:r>
                        <a:rPr lang="en-US" sz="1050">
                          <a:effectLst/>
                        </a:rPr>
                        <a:t>Weighted Precision</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0.317</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196469671"/>
                  </a:ext>
                </a:extLst>
              </a:tr>
              <a:tr h="362065">
                <a:tc>
                  <a:txBody>
                    <a:bodyPr/>
                    <a:lstStyle/>
                    <a:p>
                      <a:pPr marL="0" marR="0">
                        <a:lnSpc>
                          <a:spcPct val="115000"/>
                        </a:lnSpc>
                        <a:spcAft>
                          <a:spcPts val="1000"/>
                        </a:spcAft>
                        <a:buNone/>
                      </a:pPr>
                      <a:r>
                        <a:rPr lang="en-US" sz="1050">
                          <a:effectLst/>
                        </a:rPr>
                        <a:t>Weighted Recall</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0.400</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667938920"/>
                  </a:ext>
                </a:extLst>
              </a:tr>
              <a:tr h="362065">
                <a:tc>
                  <a:txBody>
                    <a:bodyPr/>
                    <a:lstStyle/>
                    <a:p>
                      <a:pPr marL="0" marR="0">
                        <a:lnSpc>
                          <a:spcPct val="115000"/>
                        </a:lnSpc>
                        <a:spcAft>
                          <a:spcPts val="1000"/>
                        </a:spcAft>
                        <a:buNone/>
                      </a:pPr>
                      <a:r>
                        <a:rPr lang="en-US" sz="1050">
                          <a:effectLst/>
                        </a:rPr>
                        <a:t>Weighted F1</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dirty="0">
                          <a:effectLst/>
                        </a:rPr>
                        <a:t>0.302</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316805032"/>
                  </a:ext>
                </a:extLst>
              </a:tr>
            </a:tbl>
          </a:graphicData>
        </a:graphic>
      </p:graphicFrame>
    </p:spTree>
    <p:extLst>
      <p:ext uri="{BB962C8B-B14F-4D97-AF65-F5344CB8AC3E}">
        <p14:creationId xmlns:p14="http://schemas.microsoft.com/office/powerpoint/2010/main" val="4052651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41F474-4809-15E0-0825-6C45E48BD2EE}"/>
              </a:ext>
            </a:extLst>
          </p:cNvPr>
          <p:cNvSpPr txBox="1"/>
          <p:nvPr/>
        </p:nvSpPr>
        <p:spPr>
          <a:xfrm>
            <a:off x="2521528" y="553049"/>
            <a:ext cx="7620000" cy="707886"/>
          </a:xfrm>
          <a:prstGeom prst="rect">
            <a:avLst/>
          </a:prstGeom>
          <a:noFill/>
        </p:spPr>
        <p:txBody>
          <a:bodyPr wrap="square">
            <a:spAutoFit/>
          </a:bodyPr>
          <a:lstStyle/>
          <a:p>
            <a:pPr marR="0" algn="ctr">
              <a:lnSpc>
                <a:spcPct val="100000"/>
              </a:lnSpc>
              <a:spcBef>
                <a:spcPts val="2400"/>
              </a:spcBef>
              <a:buNone/>
            </a:pPr>
            <a:r>
              <a:rPr lang="en-US" sz="4000" b="1" i="1" u="sng" dirty="0">
                <a:solidFill>
                  <a:schemeClr val="bg2">
                    <a:lumMod val="25000"/>
                  </a:schemeClr>
                </a:solidFill>
              </a:rPr>
              <a:t>Model Evaluation &amp; Comparison</a:t>
            </a:r>
          </a:p>
        </p:txBody>
      </p:sp>
      <p:sp>
        <p:nvSpPr>
          <p:cNvPr id="5" name="TextBox 4">
            <a:extLst>
              <a:ext uri="{FF2B5EF4-FFF2-40B4-BE49-F238E27FC236}">
                <a16:creationId xmlns:a16="http://schemas.microsoft.com/office/drawing/2014/main" id="{8B639646-E373-5C42-610A-AF9929986285}"/>
              </a:ext>
            </a:extLst>
          </p:cNvPr>
          <p:cNvSpPr txBox="1"/>
          <p:nvPr/>
        </p:nvSpPr>
        <p:spPr>
          <a:xfrm>
            <a:off x="1856507" y="1914118"/>
            <a:ext cx="9652001" cy="646331"/>
          </a:xfrm>
          <a:prstGeom prst="rect">
            <a:avLst/>
          </a:prstGeom>
          <a:noFill/>
        </p:spPr>
        <p:txBody>
          <a:bodyPr wrap="square">
            <a:spAutoFit/>
          </a:bodyPr>
          <a:lstStyle/>
          <a:p>
            <a:pPr marL="0" marR="0">
              <a:lnSpc>
                <a:spcPct val="100000"/>
              </a:lnSpc>
              <a:spcAft>
                <a:spcPts val="1000"/>
              </a:spcAft>
              <a:buNone/>
            </a:pPr>
            <a:r>
              <a:rPr lang="en-US" sz="1800" dirty="0">
                <a:effectLst/>
                <a:latin typeface="+mn-lt"/>
                <a:ea typeface="MS Mincho" panose="02020609040205080304" pitchFamily="49" charset="-128"/>
                <a:cs typeface="Times New Roman" panose="02020603050405020304" pitchFamily="18" charset="0"/>
              </a:rPr>
              <a:t>Precision, recall and F1 are emphasized for extraction because the goal is to identify relevant skill entities accurately.</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p:txBody>
      </p:sp>
      <p:graphicFrame>
        <p:nvGraphicFramePr>
          <p:cNvPr id="6" name="Table 5">
            <a:extLst>
              <a:ext uri="{FF2B5EF4-FFF2-40B4-BE49-F238E27FC236}">
                <a16:creationId xmlns:a16="http://schemas.microsoft.com/office/drawing/2014/main" id="{6CEC6E8A-0ACA-4B4F-2166-8D370FB86093}"/>
              </a:ext>
            </a:extLst>
          </p:cNvPr>
          <p:cNvGraphicFramePr>
            <a:graphicFrameLocks noGrp="1"/>
          </p:cNvGraphicFramePr>
          <p:nvPr>
            <p:extLst>
              <p:ext uri="{D42A27DB-BD31-4B8C-83A1-F6EECF244321}">
                <p14:modId xmlns:p14="http://schemas.microsoft.com/office/powerpoint/2010/main" val="2173194302"/>
              </p:ext>
            </p:extLst>
          </p:nvPr>
        </p:nvGraphicFramePr>
        <p:xfrm>
          <a:off x="2812472" y="2819809"/>
          <a:ext cx="7287488" cy="2589530"/>
        </p:xfrm>
        <a:graphic>
          <a:graphicData uri="http://schemas.openxmlformats.org/drawingml/2006/table">
            <a:tbl>
              <a:tblPr firstRow="1" firstCol="1" bandRow="1">
                <a:tableStyleId>{5C22544A-7EE6-4342-B048-85BDC9FD1C3A}</a:tableStyleId>
              </a:tblPr>
              <a:tblGrid>
                <a:gridCol w="1821872">
                  <a:extLst>
                    <a:ext uri="{9D8B030D-6E8A-4147-A177-3AD203B41FA5}">
                      <a16:colId xmlns:a16="http://schemas.microsoft.com/office/drawing/2014/main" val="4010343383"/>
                    </a:ext>
                  </a:extLst>
                </a:gridCol>
                <a:gridCol w="1821872">
                  <a:extLst>
                    <a:ext uri="{9D8B030D-6E8A-4147-A177-3AD203B41FA5}">
                      <a16:colId xmlns:a16="http://schemas.microsoft.com/office/drawing/2014/main" val="752537573"/>
                    </a:ext>
                  </a:extLst>
                </a:gridCol>
                <a:gridCol w="1821872">
                  <a:extLst>
                    <a:ext uri="{9D8B030D-6E8A-4147-A177-3AD203B41FA5}">
                      <a16:colId xmlns:a16="http://schemas.microsoft.com/office/drawing/2014/main" val="377765231"/>
                    </a:ext>
                  </a:extLst>
                </a:gridCol>
                <a:gridCol w="1821872">
                  <a:extLst>
                    <a:ext uri="{9D8B030D-6E8A-4147-A177-3AD203B41FA5}">
                      <a16:colId xmlns:a16="http://schemas.microsoft.com/office/drawing/2014/main" val="137312383"/>
                    </a:ext>
                  </a:extLst>
                </a:gridCol>
              </a:tblGrid>
              <a:tr h="320046">
                <a:tc>
                  <a:txBody>
                    <a:bodyPr/>
                    <a:lstStyle/>
                    <a:p>
                      <a:pPr marL="0" marR="0">
                        <a:lnSpc>
                          <a:spcPct val="115000"/>
                        </a:lnSpc>
                        <a:spcAft>
                          <a:spcPts val="1000"/>
                        </a:spcAft>
                        <a:buNone/>
                      </a:pPr>
                      <a:r>
                        <a:rPr lang="en-US" sz="1050">
                          <a:effectLst/>
                        </a:rPr>
                        <a:t>Method</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Precision</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Recall</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F1</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18903666"/>
                  </a:ext>
                </a:extLst>
              </a:tr>
              <a:tr h="320046">
                <a:tc>
                  <a:txBody>
                    <a:bodyPr/>
                    <a:lstStyle/>
                    <a:p>
                      <a:pPr marL="0" marR="0">
                        <a:lnSpc>
                          <a:spcPct val="115000"/>
                        </a:lnSpc>
                        <a:spcAft>
                          <a:spcPts val="1000"/>
                        </a:spcAft>
                        <a:buNone/>
                      </a:pPr>
                      <a:r>
                        <a:rPr lang="en-US" sz="1050">
                          <a:effectLst/>
                        </a:rPr>
                        <a:t>Dictionary Matching</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0.980</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0.741</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dirty="0">
                          <a:effectLst/>
                        </a:rPr>
                        <a:t>0.844</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839567836"/>
                  </a:ext>
                </a:extLst>
              </a:tr>
              <a:tr h="320046">
                <a:tc>
                  <a:txBody>
                    <a:bodyPr/>
                    <a:lstStyle/>
                    <a:p>
                      <a:pPr marL="0" marR="0">
                        <a:lnSpc>
                          <a:spcPct val="115000"/>
                        </a:lnSpc>
                        <a:spcAft>
                          <a:spcPts val="1000"/>
                        </a:spcAft>
                        <a:buNone/>
                      </a:pPr>
                      <a:r>
                        <a:rPr lang="en-US" sz="1050">
                          <a:effectLst/>
                        </a:rPr>
                        <a:t>Regex + Phrase Matching</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0.980</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0.741</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0.844</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855186538"/>
                  </a:ext>
                </a:extLst>
              </a:tr>
              <a:tr h="320046">
                <a:tc>
                  <a:txBody>
                    <a:bodyPr/>
                    <a:lstStyle/>
                    <a:p>
                      <a:pPr marL="0" marR="0">
                        <a:lnSpc>
                          <a:spcPct val="115000"/>
                        </a:lnSpc>
                        <a:spcAft>
                          <a:spcPts val="1000"/>
                        </a:spcAft>
                        <a:buNone/>
                      </a:pPr>
                      <a:r>
                        <a:rPr lang="en-US" sz="1050">
                          <a:effectLst/>
                        </a:rPr>
                        <a:t>TF-IDF</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Keyword analysis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Keyword analysis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N/A</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931912717"/>
                  </a:ext>
                </a:extLst>
              </a:tr>
              <a:tr h="320046">
                <a:tc>
                  <a:txBody>
                    <a:bodyPr/>
                    <a:lstStyle/>
                    <a:p>
                      <a:pPr marL="0" marR="0">
                        <a:lnSpc>
                          <a:spcPct val="115000"/>
                        </a:lnSpc>
                        <a:spcAft>
                          <a:spcPts val="1000"/>
                        </a:spcAft>
                        <a:buNone/>
                      </a:pPr>
                      <a:r>
                        <a:rPr lang="en-US" sz="1050">
                          <a:effectLst/>
                        </a:rPr>
                        <a:t>NER</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Requires labeled spans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Requires labeled spans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Requires labeled spans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331938189"/>
                  </a:ext>
                </a:extLst>
              </a:tr>
              <a:tr h="320046">
                <a:tc>
                  <a:txBody>
                    <a:bodyPr/>
                    <a:lstStyle/>
                    <a:p>
                      <a:pPr marL="0" marR="0">
                        <a:lnSpc>
                          <a:spcPct val="115000"/>
                        </a:lnSpc>
                        <a:spcAft>
                          <a:spcPts val="1000"/>
                        </a:spcAft>
                        <a:buNone/>
                      </a:pPr>
                      <a:r>
                        <a:rPr lang="en-US" sz="1050">
                          <a:effectLst/>
                        </a:rPr>
                        <a:t>ML Category Classifier</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0.317</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0.400</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0.302</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551146346"/>
                  </a:ext>
                </a:extLst>
              </a:tr>
              <a:tr h="669254">
                <a:tc>
                  <a:txBody>
                    <a:bodyPr/>
                    <a:lstStyle/>
                    <a:p>
                      <a:pPr marL="0" marR="0">
                        <a:lnSpc>
                          <a:spcPct val="115000"/>
                        </a:lnSpc>
                        <a:spcAft>
                          <a:spcPts val="1000"/>
                        </a:spcAft>
                        <a:buNone/>
                      </a:pPr>
                      <a:r>
                        <a:rPr lang="en-US" sz="1050">
                          <a:effectLst/>
                        </a:rPr>
                        <a:t>Transformer</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Requires labeled evaluation</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Requires labeled evaluation</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dirty="0">
                          <a:effectLst/>
                        </a:rPr>
                        <a:t>Requires labeled evaluation</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447709365"/>
                  </a:ext>
                </a:extLst>
              </a:tr>
            </a:tbl>
          </a:graphicData>
        </a:graphic>
      </p:graphicFrame>
      <p:sp>
        <p:nvSpPr>
          <p:cNvPr id="8" name="TextBox 7">
            <a:extLst>
              <a:ext uri="{FF2B5EF4-FFF2-40B4-BE49-F238E27FC236}">
                <a16:creationId xmlns:a16="http://schemas.microsoft.com/office/drawing/2014/main" id="{37699985-7B02-ACFF-6182-27FA0026B3F3}"/>
              </a:ext>
            </a:extLst>
          </p:cNvPr>
          <p:cNvSpPr txBox="1"/>
          <p:nvPr/>
        </p:nvSpPr>
        <p:spPr>
          <a:xfrm>
            <a:off x="1856507" y="5668700"/>
            <a:ext cx="9652001" cy="646331"/>
          </a:xfrm>
          <a:prstGeom prst="rect">
            <a:avLst/>
          </a:prstGeom>
          <a:noFill/>
        </p:spPr>
        <p:txBody>
          <a:bodyPr wrap="square">
            <a:spAutoFit/>
          </a:bodyPr>
          <a:lstStyle/>
          <a:p>
            <a:pPr marL="0" marR="0">
              <a:lnSpc>
                <a:spcPct val="100000"/>
              </a:lnSpc>
              <a:spcAft>
                <a:spcPts val="1000"/>
              </a:spcAft>
              <a:buNone/>
            </a:pPr>
            <a:r>
              <a:rPr lang="en-US" sz="1800" dirty="0">
                <a:effectLst/>
                <a:latin typeface="+mn-lt"/>
                <a:ea typeface="MS Mincho" panose="02020609040205080304" pitchFamily="49" charset="-128"/>
                <a:cs typeface="Times New Roman" panose="02020603050405020304" pitchFamily="18" charset="0"/>
              </a:rPr>
              <a:t>The supplied </a:t>
            </a:r>
            <a:r>
              <a:rPr lang="en-US" sz="1800" dirty="0" err="1">
                <a:effectLst/>
                <a:latin typeface="+mn-lt"/>
                <a:ea typeface="MS Mincho" panose="02020609040205080304" pitchFamily="49" charset="-128"/>
                <a:cs typeface="Times New Roman" panose="02020603050405020304" pitchFamily="18" charset="0"/>
              </a:rPr>
              <a:t>required_skills</a:t>
            </a:r>
            <a:r>
              <a:rPr lang="en-US" sz="1800" dirty="0">
                <a:effectLst/>
                <a:latin typeface="+mn-lt"/>
                <a:ea typeface="MS Mincho" panose="02020609040205080304" pitchFamily="49" charset="-128"/>
                <a:cs typeface="Times New Roman" panose="02020603050405020304" pitchFamily="18" charset="0"/>
              </a:rPr>
              <a:t> field is used as a reference list for extraction evaluation. A stronger research-grade NER evaluation would use manually annotated character-level skill spans.</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4010715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2532B2-7196-DFD5-4601-C3B084ACABF7}"/>
              </a:ext>
            </a:extLst>
          </p:cNvPr>
          <p:cNvSpPr txBox="1"/>
          <p:nvPr/>
        </p:nvSpPr>
        <p:spPr>
          <a:xfrm>
            <a:off x="1874982" y="688152"/>
            <a:ext cx="8608291" cy="707886"/>
          </a:xfrm>
          <a:prstGeom prst="rect">
            <a:avLst/>
          </a:prstGeom>
          <a:noFill/>
        </p:spPr>
        <p:txBody>
          <a:bodyPr wrap="square">
            <a:spAutoFit/>
          </a:bodyPr>
          <a:lstStyle/>
          <a:p>
            <a:pPr algn="ctr">
              <a:spcBef>
                <a:spcPts val="2400"/>
              </a:spcBef>
            </a:pPr>
            <a:r>
              <a:rPr lang="en-US" sz="4000" b="1" i="1" u="sng" dirty="0">
                <a:solidFill>
                  <a:schemeClr val="bg2">
                    <a:lumMod val="25000"/>
                  </a:schemeClr>
                </a:solidFill>
              </a:rPr>
              <a:t>Skill Normalization &amp; Categorization</a:t>
            </a:r>
          </a:p>
        </p:txBody>
      </p:sp>
      <p:sp>
        <p:nvSpPr>
          <p:cNvPr id="5" name="TextBox 4">
            <a:extLst>
              <a:ext uri="{FF2B5EF4-FFF2-40B4-BE49-F238E27FC236}">
                <a16:creationId xmlns:a16="http://schemas.microsoft.com/office/drawing/2014/main" id="{1D7A9BA8-A889-327F-1A3A-F4DC84166455}"/>
              </a:ext>
            </a:extLst>
          </p:cNvPr>
          <p:cNvSpPr txBox="1"/>
          <p:nvPr/>
        </p:nvSpPr>
        <p:spPr>
          <a:xfrm>
            <a:off x="1625600" y="2024954"/>
            <a:ext cx="9938327" cy="646331"/>
          </a:xfrm>
          <a:prstGeom prst="rect">
            <a:avLst/>
          </a:prstGeom>
          <a:noFill/>
        </p:spPr>
        <p:txBody>
          <a:bodyPr wrap="square">
            <a:spAutoFit/>
          </a:bodyPr>
          <a:lstStyle/>
          <a:p>
            <a:pPr marL="0" marR="0">
              <a:lnSpc>
                <a:spcPct val="100000"/>
              </a:lnSpc>
              <a:spcAft>
                <a:spcPts val="1000"/>
              </a:spcAft>
              <a:buNone/>
            </a:pPr>
            <a:r>
              <a:rPr lang="en-US" sz="1800" dirty="0">
                <a:effectLst/>
                <a:latin typeface="+mn-lt"/>
                <a:ea typeface="MS Mincho" panose="02020609040205080304" pitchFamily="49" charset="-128"/>
                <a:cs typeface="Times New Roman" panose="02020603050405020304" pitchFamily="18" charset="0"/>
              </a:rPr>
              <a:t>Normalization converts raw skill text into canonical names using lowercase conversion, special-character handling and alias matching, followed by category mapping.</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p:txBody>
      </p:sp>
      <p:graphicFrame>
        <p:nvGraphicFramePr>
          <p:cNvPr id="6" name="Table 5">
            <a:extLst>
              <a:ext uri="{FF2B5EF4-FFF2-40B4-BE49-F238E27FC236}">
                <a16:creationId xmlns:a16="http://schemas.microsoft.com/office/drawing/2014/main" id="{DE0AB68C-C65C-C437-47F1-1EDE3E98133A}"/>
              </a:ext>
            </a:extLst>
          </p:cNvPr>
          <p:cNvGraphicFramePr>
            <a:graphicFrameLocks noGrp="1"/>
          </p:cNvGraphicFramePr>
          <p:nvPr>
            <p:extLst>
              <p:ext uri="{D42A27DB-BD31-4B8C-83A1-F6EECF244321}">
                <p14:modId xmlns:p14="http://schemas.microsoft.com/office/powerpoint/2010/main" val="110946668"/>
              </p:ext>
            </p:extLst>
          </p:nvPr>
        </p:nvGraphicFramePr>
        <p:xfrm>
          <a:off x="2650835" y="2982086"/>
          <a:ext cx="7426038" cy="3603444"/>
        </p:xfrm>
        <a:graphic>
          <a:graphicData uri="http://schemas.openxmlformats.org/drawingml/2006/table">
            <a:tbl>
              <a:tblPr firstRow="1" firstCol="1" bandRow="1">
                <a:tableStyleId>{5C22544A-7EE6-4342-B048-85BDC9FD1C3A}</a:tableStyleId>
              </a:tblPr>
              <a:tblGrid>
                <a:gridCol w="2475346">
                  <a:extLst>
                    <a:ext uri="{9D8B030D-6E8A-4147-A177-3AD203B41FA5}">
                      <a16:colId xmlns:a16="http://schemas.microsoft.com/office/drawing/2014/main" val="2590155070"/>
                    </a:ext>
                  </a:extLst>
                </a:gridCol>
                <a:gridCol w="2475346">
                  <a:extLst>
                    <a:ext uri="{9D8B030D-6E8A-4147-A177-3AD203B41FA5}">
                      <a16:colId xmlns:a16="http://schemas.microsoft.com/office/drawing/2014/main" val="513897648"/>
                    </a:ext>
                  </a:extLst>
                </a:gridCol>
                <a:gridCol w="2475346">
                  <a:extLst>
                    <a:ext uri="{9D8B030D-6E8A-4147-A177-3AD203B41FA5}">
                      <a16:colId xmlns:a16="http://schemas.microsoft.com/office/drawing/2014/main" val="1661684414"/>
                    </a:ext>
                  </a:extLst>
                </a:gridCol>
              </a:tblGrid>
              <a:tr h="277188">
                <a:tc>
                  <a:txBody>
                    <a:bodyPr/>
                    <a:lstStyle/>
                    <a:p>
                      <a:pPr marL="0" marR="0">
                        <a:lnSpc>
                          <a:spcPct val="115000"/>
                        </a:lnSpc>
                        <a:spcAft>
                          <a:spcPts val="1000"/>
                        </a:spcAft>
                        <a:buNone/>
                      </a:pPr>
                      <a:r>
                        <a:rPr lang="en-US" sz="1050">
                          <a:effectLst/>
                        </a:rPr>
                        <a:t>Raw Skill</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Canonical Skill</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Category</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755337639"/>
                  </a:ext>
                </a:extLst>
              </a:tr>
              <a:tr h="277188">
                <a:tc>
                  <a:txBody>
                    <a:bodyPr/>
                    <a:lstStyle/>
                    <a:p>
                      <a:pPr marL="0" marR="0">
                        <a:lnSpc>
                          <a:spcPct val="115000"/>
                        </a:lnSpc>
                        <a:spcAft>
                          <a:spcPts val="1000"/>
                        </a:spcAft>
                        <a:buNone/>
                      </a:pPr>
                      <a:r>
                        <a:rPr lang="en-US" sz="1050">
                          <a:effectLst/>
                        </a:rPr>
                        <a:t>python3</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Python</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Programming</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734097304"/>
                  </a:ext>
                </a:extLst>
              </a:tr>
              <a:tr h="277188">
                <a:tc>
                  <a:txBody>
                    <a:bodyPr/>
                    <a:lstStyle/>
                    <a:p>
                      <a:pPr marL="0" marR="0">
                        <a:lnSpc>
                          <a:spcPct val="115000"/>
                        </a:lnSpc>
                        <a:spcAft>
                          <a:spcPts val="1000"/>
                        </a:spcAft>
                        <a:buNone/>
                      </a:pPr>
                      <a:r>
                        <a:rPr lang="en-US" sz="1050">
                          <a:effectLst/>
                        </a:rPr>
                        <a:t>python 3</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Python</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Programming</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930814790"/>
                  </a:ext>
                </a:extLst>
              </a:tr>
              <a:tr h="277188">
                <a:tc>
                  <a:txBody>
                    <a:bodyPr/>
                    <a:lstStyle/>
                    <a:p>
                      <a:pPr marL="0" marR="0">
                        <a:lnSpc>
                          <a:spcPct val="115000"/>
                        </a:lnSpc>
                        <a:spcAft>
                          <a:spcPts val="1000"/>
                        </a:spcAft>
                        <a:buNone/>
                      </a:pPr>
                      <a:r>
                        <a:rPr lang="en-US" sz="1050">
                          <a:effectLst/>
                        </a:rPr>
                        <a:t>python programming</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Python</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Programming</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471821592"/>
                  </a:ext>
                </a:extLst>
              </a:tr>
              <a:tr h="277188">
                <a:tc>
                  <a:txBody>
                    <a:bodyPr/>
                    <a:lstStyle/>
                    <a:p>
                      <a:pPr marL="0" marR="0">
                        <a:lnSpc>
                          <a:spcPct val="115000"/>
                        </a:lnSpc>
                        <a:spcAft>
                          <a:spcPts val="1000"/>
                        </a:spcAft>
                        <a:buNone/>
                      </a:pPr>
                      <a:r>
                        <a:rPr lang="en-US" sz="1050">
                          <a:effectLst/>
                        </a:rPr>
                        <a:t>powerbi</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Power BI</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Analytics/BI</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706300520"/>
                  </a:ext>
                </a:extLst>
              </a:tr>
              <a:tr h="277188">
                <a:tc>
                  <a:txBody>
                    <a:bodyPr/>
                    <a:lstStyle/>
                    <a:p>
                      <a:pPr marL="0" marR="0">
                        <a:lnSpc>
                          <a:spcPct val="115000"/>
                        </a:lnSpc>
                        <a:spcAft>
                          <a:spcPts val="1000"/>
                        </a:spcAft>
                        <a:buNone/>
                      </a:pPr>
                      <a:r>
                        <a:rPr lang="en-US" sz="1050">
                          <a:effectLst/>
                        </a:rPr>
                        <a:t>power-bi</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Power BI</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Analytics/BI</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090268196"/>
                  </a:ext>
                </a:extLst>
              </a:tr>
              <a:tr h="277188">
                <a:tc>
                  <a:txBody>
                    <a:bodyPr/>
                    <a:lstStyle/>
                    <a:p>
                      <a:pPr marL="0" marR="0">
                        <a:lnSpc>
                          <a:spcPct val="115000"/>
                        </a:lnSpc>
                        <a:spcAft>
                          <a:spcPts val="1000"/>
                        </a:spcAft>
                        <a:buNone/>
                      </a:pPr>
                      <a:r>
                        <a:rPr lang="en-US" sz="1050">
                          <a:effectLst/>
                        </a:rPr>
                        <a:t>ms excel</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Excel</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Analytics/BI</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18368397"/>
                  </a:ext>
                </a:extLst>
              </a:tr>
              <a:tr h="277188">
                <a:tc>
                  <a:txBody>
                    <a:bodyPr/>
                    <a:lstStyle/>
                    <a:p>
                      <a:pPr marL="0" marR="0">
                        <a:lnSpc>
                          <a:spcPct val="115000"/>
                        </a:lnSpc>
                        <a:spcAft>
                          <a:spcPts val="1000"/>
                        </a:spcAft>
                        <a:buNone/>
                      </a:pPr>
                      <a:r>
                        <a:rPr lang="en-US" sz="1050">
                          <a:effectLst/>
                        </a:rPr>
                        <a:t>postgres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PostgreSQL</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Database</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560084719"/>
                  </a:ext>
                </a:extLst>
              </a:tr>
              <a:tr h="277188">
                <a:tc>
                  <a:txBody>
                    <a:bodyPr/>
                    <a:lstStyle/>
                    <a:p>
                      <a:pPr marL="0" marR="0">
                        <a:lnSpc>
                          <a:spcPct val="115000"/>
                        </a:lnSpc>
                        <a:spcAft>
                          <a:spcPts val="1000"/>
                        </a:spcAft>
                        <a:buNone/>
                      </a:pPr>
                      <a:r>
                        <a:rPr lang="en-US" sz="1050">
                          <a:effectLst/>
                        </a:rPr>
                        <a:t>postgresql</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PostgreSQL</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Database</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3147211"/>
                  </a:ext>
                </a:extLst>
              </a:tr>
              <a:tr h="277188">
                <a:tc>
                  <a:txBody>
                    <a:bodyPr/>
                    <a:lstStyle/>
                    <a:p>
                      <a:pPr marL="0" marR="0">
                        <a:lnSpc>
                          <a:spcPct val="115000"/>
                        </a:lnSpc>
                        <a:spcAft>
                          <a:spcPts val="1000"/>
                        </a:spcAft>
                        <a:buNone/>
                      </a:pPr>
                      <a:r>
                        <a:rPr lang="en-US" sz="1050">
                          <a:effectLst/>
                        </a:rPr>
                        <a:t>ml</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Machine Learning</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Machine Learning</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479346949"/>
                  </a:ext>
                </a:extLst>
              </a:tr>
              <a:tr h="277188">
                <a:tc>
                  <a:txBody>
                    <a:bodyPr/>
                    <a:lstStyle/>
                    <a:p>
                      <a:pPr marL="0" marR="0">
                        <a:lnSpc>
                          <a:spcPct val="115000"/>
                        </a:lnSpc>
                        <a:spcAft>
                          <a:spcPts val="1000"/>
                        </a:spcAft>
                        <a:buNone/>
                      </a:pPr>
                      <a:r>
                        <a:rPr lang="en-US" sz="1050">
                          <a:effectLst/>
                        </a:rPr>
                        <a:t>machine learning</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Machine Learning</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Machine Learning</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411132239"/>
                  </a:ext>
                </a:extLst>
              </a:tr>
              <a:tr h="277188">
                <a:tc>
                  <a:txBody>
                    <a:bodyPr/>
                    <a:lstStyle/>
                    <a:p>
                      <a:pPr marL="0" marR="0">
                        <a:lnSpc>
                          <a:spcPct val="115000"/>
                        </a:lnSpc>
                        <a:spcAft>
                          <a:spcPts val="1000"/>
                        </a:spcAft>
                        <a:buNone/>
                      </a:pPr>
                      <a:r>
                        <a:rPr lang="en-US" sz="1050">
                          <a:effectLst/>
                        </a:rPr>
                        <a:t>nlp</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NLP</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Machine Learning</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950732428"/>
                  </a:ext>
                </a:extLst>
              </a:tr>
              <a:tr h="277188">
                <a:tc>
                  <a:txBody>
                    <a:bodyPr/>
                    <a:lstStyle/>
                    <a:p>
                      <a:pPr marL="0" marR="0">
                        <a:lnSpc>
                          <a:spcPct val="115000"/>
                        </a:lnSpc>
                        <a:spcAft>
                          <a:spcPts val="1000"/>
                        </a:spcAft>
                        <a:buNone/>
                      </a:pPr>
                      <a:r>
                        <a:rPr lang="en-US" sz="1050">
                          <a:effectLst/>
                        </a:rPr>
                        <a:t>natural language processing</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NLP</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dirty="0">
                          <a:effectLst/>
                        </a:rPr>
                        <a:t>Machine Learning</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518856702"/>
                  </a:ext>
                </a:extLst>
              </a:tr>
            </a:tbl>
          </a:graphicData>
        </a:graphic>
      </p:graphicFrame>
    </p:spTree>
    <p:extLst>
      <p:ext uri="{BB962C8B-B14F-4D97-AF65-F5344CB8AC3E}">
        <p14:creationId xmlns:p14="http://schemas.microsoft.com/office/powerpoint/2010/main" val="1417662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3EF81E-5BA4-B647-AFA7-B13D27BB2516}"/>
              </a:ext>
            </a:extLst>
          </p:cNvPr>
          <p:cNvSpPr txBox="1"/>
          <p:nvPr/>
        </p:nvSpPr>
        <p:spPr>
          <a:xfrm>
            <a:off x="2309091" y="542678"/>
            <a:ext cx="7924800" cy="707886"/>
          </a:xfrm>
          <a:prstGeom prst="rect">
            <a:avLst/>
          </a:prstGeom>
          <a:noFill/>
        </p:spPr>
        <p:txBody>
          <a:bodyPr wrap="square">
            <a:spAutoFit/>
          </a:bodyPr>
          <a:lstStyle/>
          <a:p>
            <a:pPr algn="ctr">
              <a:spcBef>
                <a:spcPts val="2400"/>
              </a:spcBef>
            </a:pPr>
            <a:r>
              <a:rPr lang="en-US" sz="4000" b="1" i="1" u="sng" dirty="0">
                <a:solidFill>
                  <a:schemeClr val="bg2">
                    <a:lumMod val="25000"/>
                  </a:schemeClr>
                </a:solidFill>
              </a:rPr>
              <a:t>Dashboard &amp; Data Visualization</a:t>
            </a:r>
          </a:p>
        </p:txBody>
      </p:sp>
      <p:pic>
        <p:nvPicPr>
          <p:cNvPr id="5" name="Picture 4">
            <a:extLst>
              <a:ext uri="{FF2B5EF4-FFF2-40B4-BE49-F238E27FC236}">
                <a16:creationId xmlns:a16="http://schemas.microsoft.com/office/drawing/2014/main" id="{8F7A21BF-CD07-82F5-8069-96911D224C18}"/>
              </a:ext>
            </a:extLst>
          </p:cNvPr>
          <p:cNvPicPr>
            <a:picLocks noChangeAspect="1"/>
          </p:cNvPicPr>
          <p:nvPr/>
        </p:nvPicPr>
        <p:blipFill>
          <a:blip r:embed="rId2"/>
          <a:stretch>
            <a:fillRect/>
          </a:stretch>
        </p:blipFill>
        <p:spPr>
          <a:xfrm>
            <a:off x="960582" y="1337051"/>
            <a:ext cx="5135418" cy="2532283"/>
          </a:xfrm>
          <a:prstGeom prst="rect">
            <a:avLst/>
          </a:prstGeom>
        </p:spPr>
      </p:pic>
      <p:pic>
        <p:nvPicPr>
          <p:cNvPr id="7" name="Picture 6">
            <a:extLst>
              <a:ext uri="{FF2B5EF4-FFF2-40B4-BE49-F238E27FC236}">
                <a16:creationId xmlns:a16="http://schemas.microsoft.com/office/drawing/2014/main" id="{C287188E-4A37-3C41-20C5-33E514315A2B}"/>
              </a:ext>
            </a:extLst>
          </p:cNvPr>
          <p:cNvPicPr>
            <a:picLocks noChangeAspect="1"/>
          </p:cNvPicPr>
          <p:nvPr/>
        </p:nvPicPr>
        <p:blipFill>
          <a:blip r:embed="rId3"/>
          <a:stretch>
            <a:fillRect/>
          </a:stretch>
        </p:blipFill>
        <p:spPr>
          <a:xfrm>
            <a:off x="6253018" y="1337051"/>
            <a:ext cx="5597237" cy="2504823"/>
          </a:xfrm>
          <a:prstGeom prst="rect">
            <a:avLst/>
          </a:prstGeom>
        </p:spPr>
      </p:pic>
      <p:pic>
        <p:nvPicPr>
          <p:cNvPr id="9" name="Picture 8">
            <a:extLst>
              <a:ext uri="{FF2B5EF4-FFF2-40B4-BE49-F238E27FC236}">
                <a16:creationId xmlns:a16="http://schemas.microsoft.com/office/drawing/2014/main" id="{3E85682E-49E1-6737-A03C-1C7A98B5D53D}"/>
              </a:ext>
            </a:extLst>
          </p:cNvPr>
          <p:cNvPicPr>
            <a:picLocks noChangeAspect="1"/>
          </p:cNvPicPr>
          <p:nvPr/>
        </p:nvPicPr>
        <p:blipFill>
          <a:blip r:embed="rId4"/>
          <a:stretch>
            <a:fillRect/>
          </a:stretch>
        </p:blipFill>
        <p:spPr>
          <a:xfrm>
            <a:off x="960582" y="3955821"/>
            <a:ext cx="6714836" cy="2761672"/>
          </a:xfrm>
          <a:prstGeom prst="rect">
            <a:avLst/>
          </a:prstGeom>
        </p:spPr>
      </p:pic>
      <p:pic>
        <p:nvPicPr>
          <p:cNvPr id="11" name="Picture 10">
            <a:extLst>
              <a:ext uri="{FF2B5EF4-FFF2-40B4-BE49-F238E27FC236}">
                <a16:creationId xmlns:a16="http://schemas.microsoft.com/office/drawing/2014/main" id="{905AA258-6CCA-5096-5AC4-89BCCFBDFDBC}"/>
              </a:ext>
            </a:extLst>
          </p:cNvPr>
          <p:cNvPicPr>
            <a:picLocks noChangeAspect="1"/>
          </p:cNvPicPr>
          <p:nvPr/>
        </p:nvPicPr>
        <p:blipFill>
          <a:blip r:embed="rId5"/>
          <a:stretch>
            <a:fillRect/>
          </a:stretch>
        </p:blipFill>
        <p:spPr>
          <a:xfrm>
            <a:off x="7804727" y="3955821"/>
            <a:ext cx="4045527" cy="2761672"/>
          </a:xfrm>
          <a:prstGeom prst="rect">
            <a:avLst/>
          </a:prstGeom>
        </p:spPr>
      </p:pic>
    </p:spTree>
    <p:extLst>
      <p:ext uri="{BB962C8B-B14F-4D97-AF65-F5344CB8AC3E}">
        <p14:creationId xmlns:p14="http://schemas.microsoft.com/office/powerpoint/2010/main" val="2444707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B6F8ADF-BCE9-7660-B2C5-2A925BB0C97B}"/>
              </a:ext>
            </a:extLst>
          </p:cNvPr>
          <p:cNvSpPr txBox="1"/>
          <p:nvPr/>
        </p:nvSpPr>
        <p:spPr>
          <a:xfrm>
            <a:off x="2392218" y="708934"/>
            <a:ext cx="7869382" cy="707886"/>
          </a:xfrm>
          <a:prstGeom prst="rect">
            <a:avLst/>
          </a:prstGeom>
          <a:noFill/>
        </p:spPr>
        <p:txBody>
          <a:bodyPr wrap="square">
            <a:spAutoFit/>
          </a:bodyPr>
          <a:lstStyle/>
          <a:p>
            <a:pPr algn="ctr">
              <a:spcBef>
                <a:spcPts val="2400"/>
              </a:spcBef>
            </a:pPr>
            <a:r>
              <a:rPr lang="en-US" sz="4000" b="1" i="1" u="sng" dirty="0">
                <a:solidFill>
                  <a:schemeClr val="bg2">
                    <a:lumMod val="25000"/>
                  </a:schemeClr>
                </a:solidFill>
              </a:rPr>
              <a:t>Application / API Development</a:t>
            </a:r>
          </a:p>
        </p:txBody>
      </p:sp>
      <p:sp>
        <p:nvSpPr>
          <p:cNvPr id="9" name="TextBox 8">
            <a:extLst>
              <a:ext uri="{FF2B5EF4-FFF2-40B4-BE49-F238E27FC236}">
                <a16:creationId xmlns:a16="http://schemas.microsoft.com/office/drawing/2014/main" id="{BE2628FC-B526-DD4B-5E94-C58BFA85ECB8}"/>
              </a:ext>
            </a:extLst>
          </p:cNvPr>
          <p:cNvSpPr txBox="1"/>
          <p:nvPr/>
        </p:nvSpPr>
        <p:spPr>
          <a:xfrm>
            <a:off x="2068944" y="2018357"/>
            <a:ext cx="8802256" cy="2821285"/>
          </a:xfrm>
          <a:prstGeom prst="rect">
            <a:avLst/>
          </a:prstGeom>
          <a:noFill/>
        </p:spPr>
        <p:txBody>
          <a:bodyPr wrap="square">
            <a:spAutoFit/>
          </a:bodyPr>
          <a:lstStyle/>
          <a:p>
            <a:pPr marL="285750" marR="0" indent="-285750">
              <a:lnSpc>
                <a:spcPct val="100000"/>
              </a:lnSpc>
              <a:spcAft>
                <a:spcPts val="1000"/>
              </a:spcAft>
              <a:buFont typeface="Arial" panose="020B0604020202020204" pitchFamily="34" charset="0"/>
              <a:buChar char="•"/>
            </a:pPr>
            <a:r>
              <a:rPr lang="en-US" sz="1800" dirty="0">
                <a:effectLst/>
                <a:latin typeface="+mn-lt"/>
                <a:ea typeface="MS Mincho" panose="02020609040205080304" pitchFamily="49" charset="-128"/>
                <a:cs typeface="Times New Roman" panose="02020603050405020304" pitchFamily="18" charset="0"/>
              </a:rPr>
              <a:t>A </a:t>
            </a:r>
            <a:r>
              <a:rPr lang="en-US" sz="1800" dirty="0" err="1">
                <a:effectLst/>
                <a:latin typeface="+mn-lt"/>
                <a:ea typeface="MS Mincho" panose="02020609040205080304" pitchFamily="49" charset="-128"/>
                <a:cs typeface="Times New Roman" panose="02020603050405020304" pitchFamily="18" charset="0"/>
              </a:rPr>
              <a:t>Streamlit</a:t>
            </a:r>
            <a:r>
              <a:rPr lang="en-US" sz="1800" dirty="0">
                <a:effectLst/>
                <a:latin typeface="+mn-lt"/>
                <a:ea typeface="MS Mincho" panose="02020609040205080304" pitchFamily="49" charset="-128"/>
                <a:cs typeface="Times New Roman" panose="02020603050405020304" pitchFamily="18" charset="0"/>
              </a:rPr>
              <a:t> application is included in app.py. Users paste a job description and receive detected skills and category mappings.</a:t>
            </a:r>
          </a:p>
          <a:p>
            <a:pPr marR="0">
              <a:lnSpc>
                <a:spcPct val="100000"/>
              </a:lnSpc>
              <a:spcAft>
                <a:spcPts val="1000"/>
              </a:spcAft>
            </a:pPr>
            <a:endParaRPr lang="en-US" sz="1800" dirty="0">
              <a:effectLst/>
              <a:latin typeface="+mn-lt"/>
              <a:ea typeface="MS Mincho" panose="02020609040205080304" pitchFamily="49" charset="-128"/>
              <a:cs typeface="Times New Roman" panose="02020603050405020304" pitchFamily="18" charset="0"/>
            </a:endParaRPr>
          </a:p>
          <a:p>
            <a:pPr marL="285750" marR="0" indent="-285750">
              <a:lnSpc>
                <a:spcPct val="100000"/>
              </a:lnSpc>
              <a:spcAft>
                <a:spcPts val="1000"/>
              </a:spcAft>
              <a:buFont typeface="Arial" panose="020B0604020202020204" pitchFamily="34" charset="0"/>
              <a:buChar char="•"/>
            </a:pPr>
            <a:r>
              <a:rPr lang="en-US" sz="1800" dirty="0">
                <a:effectLst/>
                <a:latin typeface="+mn-lt"/>
                <a:ea typeface="MS Mincho" panose="02020609040205080304" pitchFamily="49" charset="-128"/>
                <a:cs typeface="Times New Roman" panose="02020603050405020304" pitchFamily="18" charset="0"/>
              </a:rPr>
              <a:t>Architecture: User → Web Interface → Preprocessing → Skill Extraction → Normalization → Category Mapping → Final Skills.</a:t>
            </a:r>
          </a:p>
          <a:p>
            <a:pPr marR="0">
              <a:lnSpc>
                <a:spcPct val="100000"/>
              </a:lnSpc>
              <a:spcAft>
                <a:spcPts val="1000"/>
              </a:spcAft>
            </a:pPr>
            <a:endParaRPr lang="en-US" sz="1800" dirty="0">
              <a:effectLst/>
              <a:latin typeface="+mn-lt"/>
              <a:ea typeface="MS Mincho" panose="02020609040205080304" pitchFamily="49" charset="-128"/>
              <a:cs typeface="Times New Roman" panose="02020603050405020304" pitchFamily="18" charset="0"/>
            </a:endParaRPr>
          </a:p>
          <a:p>
            <a:pPr marL="285750" marR="0" indent="-285750">
              <a:lnSpc>
                <a:spcPct val="100000"/>
              </a:lnSpc>
              <a:spcAft>
                <a:spcPts val="1000"/>
              </a:spcAft>
              <a:buFont typeface="Arial" panose="020B0604020202020204" pitchFamily="34" charset="0"/>
              <a:buChar char="•"/>
            </a:pPr>
            <a:r>
              <a:rPr lang="en-US" sz="1800" dirty="0" err="1">
                <a:effectLst/>
                <a:latin typeface="+mn-lt"/>
                <a:ea typeface="MS Mincho" panose="02020609040205080304" pitchFamily="49" charset="-128"/>
                <a:cs typeface="Times New Roman" panose="02020603050405020304" pitchFamily="18" charset="0"/>
              </a:rPr>
              <a:t>FastAPI</a:t>
            </a:r>
            <a:r>
              <a:rPr lang="en-US" sz="1800" dirty="0">
                <a:effectLst/>
                <a:latin typeface="+mn-lt"/>
                <a:ea typeface="MS Mincho" panose="02020609040205080304" pitchFamily="49" charset="-128"/>
                <a:cs typeface="Times New Roman" panose="02020603050405020304" pitchFamily="18" charset="0"/>
              </a:rPr>
              <a:t> can expose the same pipeline through a REST API when deployment requires an API layer.</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0906262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3B7B976-4BFD-4643-543D-39C472EEAB90}"/>
              </a:ext>
            </a:extLst>
          </p:cNvPr>
          <p:cNvSpPr txBox="1"/>
          <p:nvPr/>
        </p:nvSpPr>
        <p:spPr>
          <a:xfrm>
            <a:off x="3140364" y="588860"/>
            <a:ext cx="6096000" cy="707886"/>
          </a:xfrm>
          <a:prstGeom prst="rect">
            <a:avLst/>
          </a:prstGeom>
          <a:noFill/>
        </p:spPr>
        <p:txBody>
          <a:bodyPr wrap="square">
            <a:spAutoFit/>
          </a:bodyPr>
          <a:lstStyle/>
          <a:p>
            <a:pPr algn="ctr">
              <a:spcBef>
                <a:spcPts val="2400"/>
              </a:spcBef>
            </a:pPr>
            <a:r>
              <a:rPr lang="en-US" sz="4000" b="1" i="1" u="sng" dirty="0">
                <a:solidFill>
                  <a:schemeClr val="bg2">
                    <a:lumMod val="25000"/>
                  </a:schemeClr>
                </a:solidFill>
              </a:rPr>
              <a:t>Testing &amp; Results</a:t>
            </a:r>
          </a:p>
        </p:txBody>
      </p:sp>
      <p:graphicFrame>
        <p:nvGraphicFramePr>
          <p:cNvPr id="6" name="Table 5">
            <a:extLst>
              <a:ext uri="{FF2B5EF4-FFF2-40B4-BE49-F238E27FC236}">
                <a16:creationId xmlns:a16="http://schemas.microsoft.com/office/drawing/2014/main" id="{C15EBF7B-3102-64CB-116C-FACAAC1C1ECD}"/>
              </a:ext>
            </a:extLst>
          </p:cNvPr>
          <p:cNvGraphicFramePr>
            <a:graphicFrameLocks noGrp="1"/>
          </p:cNvGraphicFramePr>
          <p:nvPr>
            <p:extLst>
              <p:ext uri="{D42A27DB-BD31-4B8C-83A1-F6EECF244321}">
                <p14:modId xmlns:p14="http://schemas.microsoft.com/office/powerpoint/2010/main" val="2603796035"/>
              </p:ext>
            </p:extLst>
          </p:nvPr>
        </p:nvGraphicFramePr>
        <p:xfrm>
          <a:off x="2152074" y="1736436"/>
          <a:ext cx="8358909" cy="2927929"/>
        </p:xfrm>
        <a:graphic>
          <a:graphicData uri="http://schemas.openxmlformats.org/drawingml/2006/table">
            <a:tbl>
              <a:tblPr firstRow="1" firstCol="1" bandRow="1">
                <a:tableStyleId>{5C22544A-7EE6-4342-B048-85BDC9FD1C3A}</a:tableStyleId>
              </a:tblPr>
              <a:tblGrid>
                <a:gridCol w="2786303">
                  <a:extLst>
                    <a:ext uri="{9D8B030D-6E8A-4147-A177-3AD203B41FA5}">
                      <a16:colId xmlns:a16="http://schemas.microsoft.com/office/drawing/2014/main" val="2729673966"/>
                    </a:ext>
                  </a:extLst>
                </a:gridCol>
                <a:gridCol w="2786303">
                  <a:extLst>
                    <a:ext uri="{9D8B030D-6E8A-4147-A177-3AD203B41FA5}">
                      <a16:colId xmlns:a16="http://schemas.microsoft.com/office/drawing/2014/main" val="1900975816"/>
                    </a:ext>
                  </a:extLst>
                </a:gridCol>
                <a:gridCol w="2786303">
                  <a:extLst>
                    <a:ext uri="{9D8B030D-6E8A-4147-A177-3AD203B41FA5}">
                      <a16:colId xmlns:a16="http://schemas.microsoft.com/office/drawing/2014/main" val="1790373140"/>
                    </a:ext>
                  </a:extLst>
                </a:gridCol>
              </a:tblGrid>
              <a:tr h="312664">
                <a:tc>
                  <a:txBody>
                    <a:bodyPr/>
                    <a:lstStyle/>
                    <a:p>
                      <a:pPr marL="0" marR="0">
                        <a:lnSpc>
                          <a:spcPct val="115000"/>
                        </a:lnSpc>
                        <a:spcAft>
                          <a:spcPts val="1000"/>
                        </a:spcAft>
                        <a:buNone/>
                      </a:pPr>
                      <a:r>
                        <a:rPr lang="en-US" sz="1050">
                          <a:effectLst/>
                        </a:rPr>
                        <a:t>Test Case</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Input</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Observed Result</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37529558"/>
                  </a:ext>
                </a:extLst>
              </a:tr>
              <a:tr h="312664">
                <a:tc>
                  <a:txBody>
                    <a:bodyPr/>
                    <a:lstStyle/>
                    <a:p>
                      <a:pPr marL="0" marR="0">
                        <a:lnSpc>
                          <a:spcPct val="115000"/>
                        </a:lnSpc>
                        <a:spcAft>
                          <a:spcPts val="1000"/>
                        </a:spcAft>
                        <a:buNone/>
                      </a:pPr>
                      <a:r>
                        <a:rPr lang="en-US" sz="1050">
                          <a:effectLst/>
                        </a:rPr>
                        <a:t>TC01</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Python and SQL required</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dirty="0">
                          <a:effectLst/>
                        </a:rPr>
                        <a:t>Python, SQL detected</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273444011"/>
                  </a:ext>
                </a:extLst>
              </a:tr>
              <a:tr h="994969">
                <a:tc>
                  <a:txBody>
                    <a:bodyPr/>
                    <a:lstStyle/>
                    <a:p>
                      <a:pPr marL="0" marR="0">
                        <a:lnSpc>
                          <a:spcPct val="115000"/>
                        </a:lnSpc>
                        <a:spcAft>
                          <a:spcPts val="1000"/>
                        </a:spcAft>
                        <a:buNone/>
                      </a:pPr>
                      <a:r>
                        <a:rPr lang="en-US" sz="1050">
                          <a:effectLst/>
                        </a:rPr>
                        <a:t>TC02</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Looking for Data Analyst with SQL, Python, Power BI and Excel experience.</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Power BI, Python, Excel, SQL</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68932420"/>
                  </a:ext>
                </a:extLst>
              </a:tr>
              <a:tr h="653816">
                <a:tc>
                  <a:txBody>
                    <a:bodyPr/>
                    <a:lstStyle/>
                    <a:p>
                      <a:pPr marL="0" marR="0">
                        <a:lnSpc>
                          <a:spcPct val="115000"/>
                        </a:lnSpc>
                        <a:spcAft>
                          <a:spcPts val="1000"/>
                        </a:spcAft>
                        <a:buNone/>
                      </a:pPr>
                      <a:r>
                        <a:rPr lang="en-US" sz="1050">
                          <a:effectLst/>
                        </a:rPr>
                        <a:t>TC03</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Python3 and Power-BI</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Python / Power BI handled by normalization-aware rules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37357399"/>
                  </a:ext>
                </a:extLst>
              </a:tr>
              <a:tr h="653816">
                <a:tc>
                  <a:txBody>
                    <a:bodyPr/>
                    <a:lstStyle/>
                    <a:p>
                      <a:pPr marL="0" marR="0">
                        <a:lnSpc>
                          <a:spcPct val="115000"/>
                        </a:lnSpc>
                        <a:spcAft>
                          <a:spcPts val="1000"/>
                        </a:spcAft>
                        <a:buNone/>
                      </a:pPr>
                      <a:r>
                        <a:rPr lang="en-US" sz="1050">
                          <a:effectLst/>
                        </a:rPr>
                        <a:t>TC04</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a:effectLst/>
                        </a:rPr>
                        <a:t>Cloud technologies</a:t>
                      </a:r>
                      <a:endParaRPr lang="en-US" sz="105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nSpc>
                          <a:spcPct val="115000"/>
                        </a:lnSpc>
                        <a:spcAft>
                          <a:spcPts val="1000"/>
                        </a:spcAft>
                        <a:buNone/>
                      </a:pPr>
                      <a:r>
                        <a:rPr lang="en-US" sz="1050" dirty="0">
                          <a:effectLst/>
                        </a:rPr>
                        <a:t>No specific cloud provider inferred unless named</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757216399"/>
                  </a:ext>
                </a:extLst>
              </a:tr>
            </a:tbl>
          </a:graphicData>
        </a:graphic>
      </p:graphicFrame>
      <p:sp>
        <p:nvSpPr>
          <p:cNvPr id="8" name="TextBox 7">
            <a:extLst>
              <a:ext uri="{FF2B5EF4-FFF2-40B4-BE49-F238E27FC236}">
                <a16:creationId xmlns:a16="http://schemas.microsoft.com/office/drawing/2014/main" id="{C4E0DD8E-D8E7-A3B2-DF02-430F0E5B3EFA}"/>
              </a:ext>
            </a:extLst>
          </p:cNvPr>
          <p:cNvSpPr txBox="1"/>
          <p:nvPr/>
        </p:nvSpPr>
        <p:spPr>
          <a:xfrm>
            <a:off x="1427019" y="5285391"/>
            <a:ext cx="9809018" cy="646331"/>
          </a:xfrm>
          <a:prstGeom prst="rect">
            <a:avLst/>
          </a:prstGeom>
          <a:noFill/>
        </p:spPr>
        <p:txBody>
          <a:bodyPr wrap="square">
            <a:spAutoFit/>
          </a:bodyPr>
          <a:lstStyle/>
          <a:p>
            <a:pPr marL="0" marR="0">
              <a:lnSpc>
                <a:spcPct val="100000"/>
              </a:lnSpc>
              <a:spcAft>
                <a:spcPts val="1000"/>
              </a:spcAft>
              <a:buNone/>
            </a:pPr>
            <a:r>
              <a:rPr lang="en-US" sz="1800" dirty="0">
                <a:effectLst/>
                <a:latin typeface="+mn-lt"/>
                <a:ea typeface="MS Mincho" panose="02020609040205080304" pitchFamily="49" charset="-128"/>
                <a:cs typeface="Times New Roman" panose="02020603050405020304" pitchFamily="18" charset="0"/>
              </a:rPr>
              <a:t>Overall dataset results: 100 records processed, 0 missing values, 0 duplicate rows. Extraction and ML metrics are reported above from actual calculations.</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8931562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4C1E7D-82AF-3E51-4DF0-E055EE5C051C}"/>
              </a:ext>
            </a:extLst>
          </p:cNvPr>
          <p:cNvSpPr txBox="1"/>
          <p:nvPr/>
        </p:nvSpPr>
        <p:spPr>
          <a:xfrm>
            <a:off x="2946400" y="330242"/>
            <a:ext cx="6096000" cy="707886"/>
          </a:xfrm>
          <a:prstGeom prst="rect">
            <a:avLst/>
          </a:prstGeom>
          <a:noFill/>
        </p:spPr>
        <p:txBody>
          <a:bodyPr wrap="square">
            <a:spAutoFit/>
          </a:bodyPr>
          <a:lstStyle/>
          <a:p>
            <a:pPr algn="ctr">
              <a:spcBef>
                <a:spcPts val="2400"/>
              </a:spcBef>
            </a:pPr>
            <a:r>
              <a:rPr lang="en-US" sz="4000" b="1" i="1" u="sng" dirty="0">
                <a:solidFill>
                  <a:schemeClr val="bg2">
                    <a:lumMod val="25000"/>
                  </a:schemeClr>
                </a:solidFill>
              </a:rPr>
              <a:t>Challenges &amp; Limitations</a:t>
            </a:r>
          </a:p>
        </p:txBody>
      </p:sp>
      <p:sp>
        <p:nvSpPr>
          <p:cNvPr id="5" name="TextBox 4">
            <a:extLst>
              <a:ext uri="{FF2B5EF4-FFF2-40B4-BE49-F238E27FC236}">
                <a16:creationId xmlns:a16="http://schemas.microsoft.com/office/drawing/2014/main" id="{DE588287-26ED-B1D1-F99B-8369D73DEF70}"/>
              </a:ext>
            </a:extLst>
          </p:cNvPr>
          <p:cNvSpPr txBox="1"/>
          <p:nvPr/>
        </p:nvSpPr>
        <p:spPr>
          <a:xfrm>
            <a:off x="2179781" y="1533788"/>
            <a:ext cx="9310255" cy="1477328"/>
          </a:xfrm>
          <a:prstGeom prst="rect">
            <a:avLst/>
          </a:prstGeom>
          <a:noFill/>
        </p:spPr>
        <p:txBody>
          <a:bodyPr wrap="square">
            <a:spAutoFit/>
          </a:bodyPr>
          <a:lstStyle/>
          <a:p>
            <a:pPr marL="342900" marR="0" lvl="0" indent="-342900">
              <a:lnSpc>
                <a:spcPct val="100000"/>
              </a:lnSpc>
              <a:buFont typeface="Symbol" panose="05050102010706020507" pitchFamily="18" charset="2"/>
              <a:buChar char=""/>
              <a:tabLst>
                <a:tab pos="228600" algn="l"/>
              </a:tabLst>
            </a:pPr>
            <a:r>
              <a:rPr lang="en-US" sz="1800" dirty="0">
                <a:effectLst/>
                <a:latin typeface="+mn-lt"/>
                <a:ea typeface="MS Mincho" panose="02020609040205080304" pitchFamily="49" charset="-128"/>
                <a:cs typeface="Times New Roman" panose="02020603050405020304" pitchFamily="18" charset="0"/>
              </a:rPr>
              <a:t>Technical skills have many aliases and spelling variations.</a:t>
            </a:r>
          </a:p>
          <a:p>
            <a:pPr marL="342900" marR="0" lvl="0" indent="-342900">
              <a:lnSpc>
                <a:spcPct val="100000"/>
              </a:lnSpc>
              <a:buFont typeface="Symbol" panose="05050102010706020507" pitchFamily="18" charset="2"/>
              <a:buChar char=""/>
              <a:tabLst>
                <a:tab pos="228600" algn="l"/>
              </a:tabLst>
            </a:pPr>
            <a:r>
              <a:rPr lang="en-US" sz="1800" dirty="0">
                <a:effectLst/>
                <a:latin typeface="+mn-lt"/>
                <a:ea typeface="MS Mincho" panose="02020609040205080304" pitchFamily="49" charset="-128"/>
                <a:cs typeface="Times New Roman" panose="02020603050405020304" pitchFamily="18" charset="0"/>
              </a:rPr>
              <a:t>Standard NER may miss technical skills.</a:t>
            </a:r>
          </a:p>
          <a:p>
            <a:pPr marL="342900" marR="0" lvl="0" indent="-342900">
              <a:lnSpc>
                <a:spcPct val="100000"/>
              </a:lnSpc>
              <a:buFont typeface="Symbol" panose="05050102010706020507" pitchFamily="18" charset="2"/>
              <a:buChar char=""/>
              <a:tabLst>
                <a:tab pos="228600" algn="l"/>
              </a:tabLst>
            </a:pPr>
            <a:r>
              <a:rPr lang="en-US" sz="1800" dirty="0">
                <a:effectLst/>
                <a:latin typeface="+mn-lt"/>
                <a:ea typeface="MS Mincho" panose="02020609040205080304" pitchFamily="49" charset="-128"/>
                <a:cs typeface="Times New Roman" panose="02020603050405020304" pitchFamily="18" charset="0"/>
              </a:rPr>
              <a:t>Dictionary methods cannot automatically discover unseen skills.</a:t>
            </a:r>
          </a:p>
          <a:p>
            <a:pPr marL="342900" marR="0" lvl="0" indent="-342900">
              <a:lnSpc>
                <a:spcPct val="100000"/>
              </a:lnSpc>
              <a:buFont typeface="Symbol" panose="05050102010706020507" pitchFamily="18" charset="2"/>
              <a:buChar char=""/>
              <a:tabLst>
                <a:tab pos="228600" algn="l"/>
              </a:tabLst>
            </a:pPr>
            <a:r>
              <a:rPr lang="en-US" sz="1800" dirty="0">
                <a:effectLst/>
                <a:latin typeface="+mn-lt"/>
                <a:ea typeface="MS Mincho" panose="02020609040205080304" pitchFamily="49" charset="-128"/>
                <a:cs typeface="Times New Roman" panose="02020603050405020304" pitchFamily="18" charset="0"/>
              </a:rPr>
              <a:t>Generic words may create false positives.</a:t>
            </a:r>
          </a:p>
          <a:p>
            <a:pPr marL="342900" marR="0" lvl="0" indent="-342900">
              <a:lnSpc>
                <a:spcPct val="100000"/>
              </a:lnSpc>
              <a:spcAft>
                <a:spcPts val="1000"/>
              </a:spcAft>
              <a:buFont typeface="Symbol" panose="05050102010706020507" pitchFamily="18" charset="2"/>
              <a:buChar char=""/>
              <a:tabLst>
                <a:tab pos="228600" algn="l"/>
              </a:tabLst>
            </a:pPr>
            <a:r>
              <a:rPr lang="en-US" sz="1800" dirty="0">
                <a:effectLst/>
                <a:latin typeface="+mn-lt"/>
                <a:ea typeface="MS Mincho" panose="02020609040205080304" pitchFamily="49" charset="-128"/>
                <a:cs typeface="Times New Roman" panose="02020603050405020304" pitchFamily="18" charset="0"/>
              </a:rPr>
              <a:t>Transformer methods require labeled data and pretrained resources.</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p:txBody>
      </p:sp>
      <p:sp>
        <p:nvSpPr>
          <p:cNvPr id="7" name="TextBox 6">
            <a:extLst>
              <a:ext uri="{FF2B5EF4-FFF2-40B4-BE49-F238E27FC236}">
                <a16:creationId xmlns:a16="http://schemas.microsoft.com/office/drawing/2014/main" id="{735DFF34-F1EB-94E4-4ADA-DF06D3680435}"/>
              </a:ext>
            </a:extLst>
          </p:cNvPr>
          <p:cNvSpPr txBox="1"/>
          <p:nvPr/>
        </p:nvSpPr>
        <p:spPr>
          <a:xfrm>
            <a:off x="3048000" y="3283485"/>
            <a:ext cx="6096000" cy="707886"/>
          </a:xfrm>
          <a:prstGeom prst="rect">
            <a:avLst/>
          </a:prstGeom>
          <a:noFill/>
        </p:spPr>
        <p:txBody>
          <a:bodyPr wrap="square">
            <a:spAutoFit/>
          </a:bodyPr>
          <a:lstStyle/>
          <a:p>
            <a:pPr algn="ctr">
              <a:spcBef>
                <a:spcPts val="2400"/>
              </a:spcBef>
            </a:pPr>
            <a:r>
              <a:rPr lang="en-US" sz="4000" b="1" i="1" u="sng" dirty="0">
                <a:solidFill>
                  <a:schemeClr val="bg2">
                    <a:lumMod val="25000"/>
                  </a:schemeClr>
                </a:solidFill>
              </a:rPr>
              <a:t>Future Scope</a:t>
            </a:r>
          </a:p>
        </p:txBody>
      </p:sp>
      <p:sp>
        <p:nvSpPr>
          <p:cNvPr id="9" name="TextBox 8">
            <a:extLst>
              <a:ext uri="{FF2B5EF4-FFF2-40B4-BE49-F238E27FC236}">
                <a16:creationId xmlns:a16="http://schemas.microsoft.com/office/drawing/2014/main" id="{C36F83CF-641E-E41F-E926-6B6C503F82B7}"/>
              </a:ext>
            </a:extLst>
          </p:cNvPr>
          <p:cNvSpPr txBox="1"/>
          <p:nvPr/>
        </p:nvSpPr>
        <p:spPr>
          <a:xfrm>
            <a:off x="2179781" y="4263740"/>
            <a:ext cx="6096000" cy="1377300"/>
          </a:xfrm>
          <a:prstGeom prst="rect">
            <a:avLst/>
          </a:prstGeom>
          <a:noFill/>
        </p:spPr>
        <p:txBody>
          <a:bodyPr wrap="square">
            <a:spAutoFit/>
          </a:bodyPr>
          <a:lstStyle/>
          <a:p>
            <a:pPr marL="342900" marR="0" lvl="0" indent="-342900">
              <a:lnSpc>
                <a:spcPct val="100000"/>
              </a:lnSpc>
              <a:buFont typeface="Symbol" panose="05050102010706020507" pitchFamily="18" charset="2"/>
              <a:buChar char=""/>
              <a:tabLst>
                <a:tab pos="228600" algn="l"/>
              </a:tabLst>
            </a:pPr>
            <a:r>
              <a:rPr lang="en-US" sz="1800" dirty="0">
                <a:effectLst/>
                <a:latin typeface="+mn-lt"/>
                <a:ea typeface="MS Mincho" panose="02020609040205080304" pitchFamily="49" charset="-128"/>
                <a:cs typeface="Times New Roman" panose="02020603050405020304" pitchFamily="18" charset="0"/>
              </a:rPr>
              <a:t>Resume-job matching</a:t>
            </a:r>
          </a:p>
          <a:p>
            <a:pPr marL="342900" marR="0" lvl="0" indent="-342900">
              <a:lnSpc>
                <a:spcPct val="100000"/>
              </a:lnSpc>
              <a:buFont typeface="Symbol" panose="05050102010706020507" pitchFamily="18" charset="2"/>
              <a:buChar char=""/>
              <a:tabLst>
                <a:tab pos="228600" algn="l"/>
              </a:tabLst>
            </a:pPr>
            <a:r>
              <a:rPr lang="en-US" sz="1800" dirty="0">
                <a:effectLst/>
                <a:latin typeface="+mn-lt"/>
                <a:ea typeface="MS Mincho" panose="02020609040205080304" pitchFamily="49" charset="-128"/>
                <a:cs typeface="Times New Roman" panose="02020603050405020304" pitchFamily="18" charset="0"/>
              </a:rPr>
              <a:t>Candidate ranking</a:t>
            </a:r>
          </a:p>
          <a:p>
            <a:pPr marL="342900" marR="0" lvl="0" indent="-342900">
              <a:lnSpc>
                <a:spcPct val="100000"/>
              </a:lnSpc>
              <a:buFont typeface="Symbol" panose="05050102010706020507" pitchFamily="18" charset="2"/>
              <a:buChar char=""/>
              <a:tabLst>
                <a:tab pos="228600" algn="l"/>
              </a:tabLst>
            </a:pPr>
            <a:r>
              <a:rPr lang="en-US" sz="1800" dirty="0">
                <a:effectLst/>
                <a:latin typeface="+mn-lt"/>
                <a:ea typeface="MS Mincho" panose="02020609040205080304" pitchFamily="49" charset="-128"/>
                <a:cs typeface="Times New Roman" panose="02020603050405020304" pitchFamily="18" charset="0"/>
              </a:rPr>
              <a:t>Skill-gap analysis</a:t>
            </a:r>
          </a:p>
          <a:p>
            <a:pPr marL="342900" marR="0" lvl="0" indent="-342900">
              <a:lnSpc>
                <a:spcPct val="100000"/>
              </a:lnSpc>
              <a:buFont typeface="Symbol" panose="05050102010706020507" pitchFamily="18" charset="2"/>
              <a:buChar char=""/>
              <a:tabLst>
                <a:tab pos="228600" algn="l"/>
              </a:tabLst>
            </a:pPr>
            <a:r>
              <a:rPr lang="en-US" sz="1800" dirty="0">
                <a:effectLst/>
                <a:latin typeface="+mn-lt"/>
                <a:ea typeface="MS Mincho" panose="02020609040205080304" pitchFamily="49" charset="-128"/>
                <a:cs typeface="Times New Roman" panose="02020603050405020304" pitchFamily="18" charset="0"/>
              </a:rPr>
              <a:t>Recommendation system</a:t>
            </a:r>
          </a:p>
          <a:p>
            <a:pPr marL="342900" marR="0" lvl="0" indent="-342900">
              <a:lnSpc>
                <a:spcPct val="100000"/>
              </a:lnSpc>
              <a:buFont typeface="Symbol" panose="05050102010706020507" pitchFamily="18" charset="2"/>
              <a:buChar char=""/>
              <a:tabLst>
                <a:tab pos="228600" algn="l"/>
              </a:tabLst>
            </a:pPr>
            <a:r>
              <a:rPr lang="en-US" sz="1800" dirty="0">
                <a:effectLst/>
                <a:latin typeface="+mn-lt"/>
                <a:ea typeface="MS Mincho" panose="02020609040205080304" pitchFamily="49" charset="-128"/>
                <a:cs typeface="Times New Roman" panose="02020603050405020304" pitchFamily="18" charset="0"/>
              </a:rPr>
              <a:t>Fine-tuned transformer NER using manually labeled entities</a:t>
            </a:r>
          </a:p>
          <a:p>
            <a:pPr marL="342900" marR="0" lvl="0" indent="-342900">
              <a:lnSpc>
                <a:spcPct val="100000"/>
              </a:lnSpc>
              <a:buFont typeface="Symbol" panose="05050102010706020507" pitchFamily="18" charset="2"/>
              <a:buChar char=""/>
              <a:tabLst>
                <a:tab pos="228600" algn="l"/>
              </a:tabLst>
            </a:pPr>
            <a:r>
              <a:rPr lang="en-US" sz="1800" dirty="0">
                <a:effectLst/>
                <a:latin typeface="+mn-lt"/>
                <a:ea typeface="MS Mincho" panose="02020609040205080304" pitchFamily="49" charset="-128"/>
                <a:cs typeface="Times New Roman" panose="02020603050405020304" pitchFamily="18" charset="0"/>
              </a:rPr>
              <a:t>Continuous skill-taxonomy updates</a:t>
            </a:r>
          </a:p>
          <a:p>
            <a:pPr marL="342900" marR="0" lvl="0" indent="-342900">
              <a:lnSpc>
                <a:spcPct val="100000"/>
              </a:lnSpc>
              <a:spcAft>
                <a:spcPts val="1000"/>
              </a:spcAft>
              <a:buFont typeface="Symbol" panose="05050102010706020507" pitchFamily="18" charset="2"/>
              <a:buChar char=""/>
              <a:tabLst>
                <a:tab pos="228600" algn="l"/>
              </a:tabLst>
            </a:pPr>
            <a:r>
              <a:rPr lang="en-US" sz="1800" dirty="0" err="1">
                <a:effectLst/>
                <a:latin typeface="+mn-lt"/>
                <a:ea typeface="MS Mincho" panose="02020609040205080304" pitchFamily="49" charset="-128"/>
                <a:cs typeface="Times New Roman" panose="02020603050405020304" pitchFamily="18" charset="0"/>
              </a:rPr>
              <a:t>FastAPI</a:t>
            </a:r>
            <a:r>
              <a:rPr lang="en-US" sz="1800" dirty="0">
                <a:effectLst/>
                <a:latin typeface="+mn-lt"/>
                <a:ea typeface="MS Mincho" panose="02020609040205080304" pitchFamily="49" charset="-128"/>
                <a:cs typeface="Times New Roman" panose="02020603050405020304" pitchFamily="18" charset="0"/>
              </a:rPr>
              <a:t> and cloud deployment</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32258038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F4A902-2BA5-56B0-EF59-E6BD179FCDB2}"/>
              </a:ext>
            </a:extLst>
          </p:cNvPr>
          <p:cNvSpPr txBox="1"/>
          <p:nvPr/>
        </p:nvSpPr>
        <p:spPr>
          <a:xfrm>
            <a:off x="3149601" y="412195"/>
            <a:ext cx="6096000" cy="707886"/>
          </a:xfrm>
          <a:prstGeom prst="rect">
            <a:avLst/>
          </a:prstGeom>
          <a:noFill/>
        </p:spPr>
        <p:txBody>
          <a:bodyPr wrap="square">
            <a:spAutoFit/>
          </a:bodyPr>
          <a:lstStyle/>
          <a:p>
            <a:pPr marR="0" algn="ctr">
              <a:lnSpc>
                <a:spcPct val="100000"/>
              </a:lnSpc>
              <a:spcBef>
                <a:spcPts val="2400"/>
              </a:spcBef>
              <a:buNone/>
            </a:pPr>
            <a:r>
              <a:rPr lang="en-US" sz="4000" b="1" i="1" u="sng" dirty="0">
                <a:solidFill>
                  <a:schemeClr val="bg2">
                    <a:lumMod val="25000"/>
                  </a:schemeClr>
                </a:solidFill>
              </a:rPr>
              <a:t>Learning Outcomes</a:t>
            </a:r>
          </a:p>
        </p:txBody>
      </p:sp>
      <p:sp>
        <p:nvSpPr>
          <p:cNvPr id="5" name="TextBox 4">
            <a:extLst>
              <a:ext uri="{FF2B5EF4-FFF2-40B4-BE49-F238E27FC236}">
                <a16:creationId xmlns:a16="http://schemas.microsoft.com/office/drawing/2014/main" id="{95DA94FE-67BA-1507-9077-A854C485EDDE}"/>
              </a:ext>
            </a:extLst>
          </p:cNvPr>
          <p:cNvSpPr txBox="1"/>
          <p:nvPr/>
        </p:nvSpPr>
        <p:spPr>
          <a:xfrm>
            <a:off x="2604654" y="1523459"/>
            <a:ext cx="6483928" cy="2031325"/>
          </a:xfrm>
          <a:prstGeom prst="rect">
            <a:avLst/>
          </a:prstGeom>
          <a:noFill/>
        </p:spPr>
        <p:txBody>
          <a:bodyPr wrap="square">
            <a:spAutoFit/>
          </a:bodyPr>
          <a:lstStyle/>
          <a:p>
            <a:pPr marL="342900" marR="0" lvl="0" indent="-342900">
              <a:lnSpc>
                <a:spcPct val="100000"/>
              </a:lnSpc>
              <a:buFont typeface="Symbol" panose="05050102010706020507" pitchFamily="18" charset="2"/>
              <a:buChar char=""/>
              <a:tabLst>
                <a:tab pos="228600" algn="l"/>
              </a:tabLst>
            </a:pPr>
            <a:r>
              <a:rPr lang="en-US" sz="1800" dirty="0">
                <a:effectLst/>
                <a:latin typeface="+mn-lt"/>
                <a:ea typeface="MS Mincho" panose="02020609040205080304" pitchFamily="49" charset="-128"/>
                <a:cs typeface="Times New Roman" panose="02020603050405020304" pitchFamily="18" charset="0"/>
              </a:rPr>
              <a:t>Real-world NLP workflow</a:t>
            </a:r>
          </a:p>
          <a:p>
            <a:pPr marL="342900" marR="0" lvl="0" indent="-342900">
              <a:lnSpc>
                <a:spcPct val="100000"/>
              </a:lnSpc>
              <a:buFont typeface="Symbol" panose="05050102010706020507" pitchFamily="18" charset="2"/>
              <a:buChar char=""/>
              <a:tabLst>
                <a:tab pos="228600" algn="l"/>
              </a:tabLst>
            </a:pPr>
            <a:r>
              <a:rPr lang="en-US" sz="1800" dirty="0">
                <a:effectLst/>
                <a:latin typeface="+mn-lt"/>
                <a:ea typeface="MS Mincho" panose="02020609040205080304" pitchFamily="49" charset="-128"/>
                <a:cs typeface="Times New Roman" panose="02020603050405020304" pitchFamily="18" charset="0"/>
              </a:rPr>
              <a:t>Dataset inspection and EDA</a:t>
            </a:r>
          </a:p>
          <a:p>
            <a:pPr marL="342900" marR="0" lvl="0" indent="-342900">
              <a:lnSpc>
                <a:spcPct val="100000"/>
              </a:lnSpc>
              <a:buFont typeface="Symbol" panose="05050102010706020507" pitchFamily="18" charset="2"/>
              <a:buChar char=""/>
              <a:tabLst>
                <a:tab pos="228600" algn="l"/>
              </a:tabLst>
            </a:pPr>
            <a:r>
              <a:rPr lang="en-US" sz="1800" dirty="0">
                <a:effectLst/>
                <a:latin typeface="+mn-lt"/>
                <a:ea typeface="MS Mincho" panose="02020609040205080304" pitchFamily="49" charset="-128"/>
                <a:cs typeface="Times New Roman" panose="02020603050405020304" pitchFamily="18" charset="0"/>
              </a:rPr>
              <a:t>Text cleaning and preprocessing</a:t>
            </a:r>
          </a:p>
          <a:p>
            <a:pPr marL="342900" marR="0" lvl="0" indent="-342900">
              <a:lnSpc>
                <a:spcPct val="100000"/>
              </a:lnSpc>
              <a:buFont typeface="Symbol" panose="05050102010706020507" pitchFamily="18" charset="2"/>
              <a:buChar char=""/>
              <a:tabLst>
                <a:tab pos="228600" algn="l"/>
              </a:tabLst>
            </a:pPr>
            <a:r>
              <a:rPr lang="en-US" sz="1800" dirty="0">
                <a:effectLst/>
                <a:latin typeface="+mn-lt"/>
                <a:ea typeface="MS Mincho" panose="02020609040205080304" pitchFamily="49" charset="-128"/>
                <a:cs typeface="Times New Roman" panose="02020603050405020304" pitchFamily="18" charset="0"/>
              </a:rPr>
              <a:t>Skill taxonomy and normalization</a:t>
            </a:r>
          </a:p>
          <a:p>
            <a:pPr marL="342900" marR="0" lvl="0" indent="-342900">
              <a:lnSpc>
                <a:spcPct val="100000"/>
              </a:lnSpc>
              <a:buFont typeface="Symbol" panose="05050102010706020507" pitchFamily="18" charset="2"/>
              <a:buChar char=""/>
              <a:tabLst>
                <a:tab pos="228600" algn="l"/>
              </a:tabLst>
            </a:pPr>
            <a:r>
              <a:rPr lang="en-US" sz="1800" dirty="0">
                <a:effectLst/>
                <a:latin typeface="+mn-lt"/>
                <a:ea typeface="MS Mincho" panose="02020609040205080304" pitchFamily="49" charset="-128"/>
                <a:cs typeface="Times New Roman" panose="02020603050405020304" pitchFamily="18" charset="0"/>
              </a:rPr>
              <a:t>TF-IDF and N-Gram analysis</a:t>
            </a:r>
          </a:p>
          <a:p>
            <a:pPr marL="342900" marR="0" lvl="0" indent="-342900">
              <a:lnSpc>
                <a:spcPct val="100000"/>
              </a:lnSpc>
              <a:buFont typeface="Symbol" panose="05050102010706020507" pitchFamily="18" charset="2"/>
              <a:buChar char=""/>
              <a:tabLst>
                <a:tab pos="228600" algn="l"/>
              </a:tabLst>
            </a:pPr>
            <a:r>
              <a:rPr lang="en-US" sz="1800" dirty="0">
                <a:effectLst/>
                <a:latin typeface="+mn-lt"/>
                <a:ea typeface="MS Mincho" panose="02020609040205080304" pitchFamily="49" charset="-128"/>
                <a:cs typeface="Times New Roman" panose="02020603050405020304" pitchFamily="18" charset="0"/>
              </a:rPr>
              <a:t>Regex and rule-based extraction</a:t>
            </a:r>
          </a:p>
          <a:p>
            <a:pPr marL="342900" marR="0" lvl="0" indent="-342900">
              <a:lnSpc>
                <a:spcPct val="100000"/>
              </a:lnSpc>
              <a:spcAft>
                <a:spcPts val="1000"/>
              </a:spcAft>
              <a:buFont typeface="Symbol" panose="05050102010706020507" pitchFamily="18" charset="2"/>
              <a:buChar char=""/>
              <a:tabLst>
                <a:tab pos="228600" algn="l"/>
              </a:tabLst>
            </a:pPr>
            <a:r>
              <a:rPr lang="en-US" sz="1800" dirty="0">
                <a:effectLst/>
                <a:latin typeface="+mn-lt"/>
                <a:ea typeface="MS Mincho" panose="02020609040205080304" pitchFamily="49" charset="-128"/>
                <a:cs typeface="Times New Roman" panose="02020603050405020304" pitchFamily="18" charset="0"/>
              </a:rPr>
              <a:t>Supervised ML with TF-IDF</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p:txBody>
      </p:sp>
      <p:sp>
        <p:nvSpPr>
          <p:cNvPr id="7" name="TextBox 6">
            <a:extLst>
              <a:ext uri="{FF2B5EF4-FFF2-40B4-BE49-F238E27FC236}">
                <a16:creationId xmlns:a16="http://schemas.microsoft.com/office/drawing/2014/main" id="{F15E21A5-D15A-CA47-37AE-D4F87E75ABA5}"/>
              </a:ext>
            </a:extLst>
          </p:cNvPr>
          <p:cNvSpPr txBox="1"/>
          <p:nvPr/>
        </p:nvSpPr>
        <p:spPr>
          <a:xfrm>
            <a:off x="3149601" y="3738460"/>
            <a:ext cx="6096000" cy="707886"/>
          </a:xfrm>
          <a:prstGeom prst="rect">
            <a:avLst/>
          </a:prstGeom>
          <a:noFill/>
        </p:spPr>
        <p:txBody>
          <a:bodyPr wrap="square">
            <a:spAutoFit/>
          </a:bodyPr>
          <a:lstStyle/>
          <a:p>
            <a:pPr algn="ctr">
              <a:spcBef>
                <a:spcPts val="2400"/>
              </a:spcBef>
            </a:pPr>
            <a:r>
              <a:rPr lang="en-US" sz="4000" b="1" i="1" u="sng" dirty="0">
                <a:solidFill>
                  <a:schemeClr val="bg2">
                    <a:lumMod val="25000"/>
                  </a:schemeClr>
                </a:solidFill>
              </a:rPr>
              <a:t>Conclusion</a:t>
            </a:r>
          </a:p>
        </p:txBody>
      </p:sp>
      <p:sp>
        <p:nvSpPr>
          <p:cNvPr id="9" name="TextBox 8">
            <a:extLst>
              <a:ext uri="{FF2B5EF4-FFF2-40B4-BE49-F238E27FC236}">
                <a16:creationId xmlns:a16="http://schemas.microsoft.com/office/drawing/2014/main" id="{0BC29BAE-B44F-9FB9-3DE1-15A24451318D}"/>
              </a:ext>
            </a:extLst>
          </p:cNvPr>
          <p:cNvSpPr txBox="1"/>
          <p:nvPr/>
        </p:nvSpPr>
        <p:spPr>
          <a:xfrm>
            <a:off x="1579417" y="4789841"/>
            <a:ext cx="9892147" cy="1477328"/>
          </a:xfrm>
          <a:prstGeom prst="rect">
            <a:avLst/>
          </a:prstGeom>
          <a:noFill/>
        </p:spPr>
        <p:txBody>
          <a:bodyPr wrap="square">
            <a:spAutoFit/>
          </a:bodyPr>
          <a:lstStyle/>
          <a:p>
            <a:pPr marL="0" marR="0">
              <a:lnSpc>
                <a:spcPct val="100000"/>
              </a:lnSpc>
              <a:spcAft>
                <a:spcPts val="1000"/>
              </a:spcAft>
              <a:buNone/>
            </a:pPr>
            <a:r>
              <a:rPr lang="en-US" sz="1800" dirty="0">
                <a:effectLst/>
                <a:latin typeface="+mn-lt"/>
                <a:ea typeface="MS Mincho" panose="02020609040205080304" pitchFamily="49" charset="-128"/>
                <a:cs typeface="Times New Roman" panose="02020603050405020304" pitchFamily="18" charset="0"/>
              </a:rPr>
              <a:t>The project demonstrates an end-to-end NLP workflow for extracting technical skills from job descriptions. It combines data analysis, cleaning, taxonomy development, rule-based and regex extraction, statistical NLP, supervised categorization, normalization and a user-facing application. The calculated results provide a reproducible baseline and the semantic/transformer components provide a path toward more context-aware extraction.</a:t>
            </a:r>
            <a:endParaRPr lang="en-US" sz="1050" dirty="0">
              <a:effectLst/>
              <a:latin typeface="Arial" panose="020B06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2457470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B9AA07-8E4C-4018-A928-9B63AE30A6A9}"/>
              </a:ext>
            </a:extLst>
          </p:cNvPr>
          <p:cNvSpPr txBox="1"/>
          <p:nvPr/>
        </p:nvSpPr>
        <p:spPr>
          <a:xfrm>
            <a:off x="2900218" y="671987"/>
            <a:ext cx="6096000" cy="707886"/>
          </a:xfrm>
          <a:prstGeom prst="rect">
            <a:avLst/>
          </a:prstGeom>
          <a:noFill/>
        </p:spPr>
        <p:txBody>
          <a:bodyPr wrap="square">
            <a:spAutoFit/>
          </a:bodyPr>
          <a:lstStyle/>
          <a:p>
            <a:pPr algn="ctr">
              <a:spcBef>
                <a:spcPts val="2400"/>
              </a:spcBef>
            </a:pPr>
            <a:r>
              <a:rPr lang="en-US" sz="4000" b="1" i="1" u="sng" dirty="0">
                <a:solidFill>
                  <a:schemeClr val="bg2">
                    <a:lumMod val="25000"/>
                  </a:schemeClr>
                </a:solidFill>
              </a:rPr>
              <a:t>References</a:t>
            </a:r>
          </a:p>
        </p:txBody>
      </p:sp>
      <p:sp>
        <p:nvSpPr>
          <p:cNvPr id="5" name="TextBox 4">
            <a:extLst>
              <a:ext uri="{FF2B5EF4-FFF2-40B4-BE49-F238E27FC236}">
                <a16:creationId xmlns:a16="http://schemas.microsoft.com/office/drawing/2014/main" id="{DA5BDEDB-42BD-4361-12C4-1F09C1F3A198}"/>
              </a:ext>
            </a:extLst>
          </p:cNvPr>
          <p:cNvSpPr txBox="1"/>
          <p:nvPr/>
        </p:nvSpPr>
        <p:spPr>
          <a:xfrm>
            <a:off x="2733963" y="2048099"/>
            <a:ext cx="7499928" cy="4016484"/>
          </a:xfrm>
          <a:prstGeom prst="rect">
            <a:avLst/>
          </a:prstGeom>
          <a:noFill/>
        </p:spPr>
        <p:txBody>
          <a:bodyPr wrap="square">
            <a:spAutoFit/>
          </a:bodyPr>
          <a:lstStyle/>
          <a:p>
            <a:pPr marL="342900" marR="0" lvl="0" indent="-342900">
              <a:lnSpc>
                <a:spcPct val="100000"/>
              </a:lnSpc>
              <a:spcAft>
                <a:spcPts val="1000"/>
              </a:spcAft>
              <a:buFont typeface="+mj-lt"/>
              <a:buAutoNum type="arabicPeriod"/>
              <a:tabLst>
                <a:tab pos="923925" algn="l"/>
              </a:tabLst>
            </a:pPr>
            <a:r>
              <a:rPr lang="en-IN" sz="1800" dirty="0">
                <a:effectLst/>
                <a:latin typeface="+mn-lt"/>
                <a:ea typeface="MS Mincho" panose="02020609040205080304" pitchFamily="49" charset="-128"/>
                <a:cs typeface="Times New Roman" panose="02020603050405020304" pitchFamily="18" charset="0"/>
              </a:rPr>
              <a:t>Python Documentation</a:t>
            </a:r>
            <a:endParaRPr lang="en-US" sz="1800" dirty="0">
              <a:effectLst/>
              <a:latin typeface="+mn-lt"/>
              <a:ea typeface="MS Mincho" panose="02020609040205080304" pitchFamily="49" charset="-128"/>
              <a:cs typeface="Times New Roman" panose="02020603050405020304" pitchFamily="18" charset="0"/>
            </a:endParaRPr>
          </a:p>
          <a:p>
            <a:pPr marL="342900" marR="0" lvl="0" indent="-342900">
              <a:lnSpc>
                <a:spcPct val="100000"/>
              </a:lnSpc>
              <a:spcAft>
                <a:spcPts val="1000"/>
              </a:spcAft>
              <a:buFont typeface="+mj-lt"/>
              <a:buAutoNum type="arabicPeriod"/>
              <a:tabLst>
                <a:tab pos="923925" algn="l"/>
              </a:tabLst>
            </a:pPr>
            <a:r>
              <a:rPr lang="en-IN" sz="1800" dirty="0">
                <a:effectLst/>
                <a:latin typeface="+mn-lt"/>
                <a:ea typeface="MS Mincho" panose="02020609040205080304" pitchFamily="49" charset="-128"/>
                <a:cs typeface="Times New Roman" panose="02020603050405020304" pitchFamily="18" charset="0"/>
              </a:rPr>
              <a:t>Pandas Documentation</a:t>
            </a:r>
            <a:endParaRPr lang="en-US" sz="1800" dirty="0">
              <a:effectLst/>
              <a:latin typeface="+mn-lt"/>
              <a:ea typeface="MS Mincho" panose="02020609040205080304" pitchFamily="49" charset="-128"/>
              <a:cs typeface="Times New Roman" panose="02020603050405020304" pitchFamily="18" charset="0"/>
            </a:endParaRPr>
          </a:p>
          <a:p>
            <a:pPr marL="342900" marR="0" lvl="0" indent="-342900">
              <a:lnSpc>
                <a:spcPct val="100000"/>
              </a:lnSpc>
              <a:spcAft>
                <a:spcPts val="1000"/>
              </a:spcAft>
              <a:buFont typeface="+mj-lt"/>
              <a:buAutoNum type="arabicPeriod"/>
              <a:tabLst>
                <a:tab pos="923925" algn="l"/>
              </a:tabLst>
            </a:pPr>
            <a:r>
              <a:rPr lang="en-IN" sz="1800" dirty="0">
                <a:effectLst/>
                <a:latin typeface="+mn-lt"/>
                <a:ea typeface="MS Mincho" panose="02020609040205080304" pitchFamily="49" charset="-128"/>
                <a:cs typeface="Times New Roman" panose="02020603050405020304" pitchFamily="18" charset="0"/>
              </a:rPr>
              <a:t>NumPy Documentation</a:t>
            </a:r>
            <a:endParaRPr lang="en-US" sz="1800" dirty="0">
              <a:effectLst/>
              <a:latin typeface="+mn-lt"/>
              <a:ea typeface="MS Mincho" panose="02020609040205080304" pitchFamily="49" charset="-128"/>
              <a:cs typeface="Times New Roman" panose="02020603050405020304" pitchFamily="18" charset="0"/>
            </a:endParaRPr>
          </a:p>
          <a:p>
            <a:pPr marL="342900" marR="0" lvl="0" indent="-342900">
              <a:lnSpc>
                <a:spcPct val="100000"/>
              </a:lnSpc>
              <a:spcAft>
                <a:spcPts val="1000"/>
              </a:spcAft>
              <a:buFont typeface="+mj-lt"/>
              <a:buAutoNum type="arabicPeriod"/>
              <a:tabLst>
                <a:tab pos="923925" algn="l"/>
              </a:tabLst>
            </a:pPr>
            <a:r>
              <a:rPr lang="en-IN" sz="1800" dirty="0">
                <a:effectLst/>
                <a:latin typeface="+mn-lt"/>
                <a:ea typeface="MS Mincho" panose="02020609040205080304" pitchFamily="49" charset="-128"/>
                <a:cs typeface="Times New Roman" panose="02020603050405020304" pitchFamily="18" charset="0"/>
              </a:rPr>
              <a:t>NLTK Documentation</a:t>
            </a:r>
            <a:endParaRPr lang="en-US" sz="1800" dirty="0">
              <a:effectLst/>
              <a:latin typeface="+mn-lt"/>
              <a:ea typeface="MS Mincho" panose="02020609040205080304" pitchFamily="49" charset="-128"/>
              <a:cs typeface="Times New Roman" panose="02020603050405020304" pitchFamily="18" charset="0"/>
            </a:endParaRPr>
          </a:p>
          <a:p>
            <a:pPr marL="342900" marR="0" lvl="0" indent="-342900">
              <a:lnSpc>
                <a:spcPct val="100000"/>
              </a:lnSpc>
              <a:spcAft>
                <a:spcPts val="1000"/>
              </a:spcAft>
              <a:buFont typeface="+mj-lt"/>
              <a:buAutoNum type="arabicPeriod"/>
              <a:tabLst>
                <a:tab pos="923925" algn="l"/>
              </a:tabLst>
            </a:pPr>
            <a:r>
              <a:rPr lang="en-IN" sz="1800" dirty="0">
                <a:effectLst/>
                <a:latin typeface="+mn-lt"/>
                <a:ea typeface="MS Mincho" panose="02020609040205080304" pitchFamily="49" charset="-128"/>
                <a:cs typeface="Times New Roman" panose="02020603050405020304" pitchFamily="18" charset="0"/>
              </a:rPr>
              <a:t>spacy Documentation</a:t>
            </a:r>
            <a:endParaRPr lang="en-US" sz="1800" dirty="0">
              <a:effectLst/>
              <a:latin typeface="+mn-lt"/>
              <a:ea typeface="MS Mincho" panose="02020609040205080304" pitchFamily="49" charset="-128"/>
              <a:cs typeface="Times New Roman" panose="02020603050405020304" pitchFamily="18" charset="0"/>
            </a:endParaRPr>
          </a:p>
          <a:p>
            <a:pPr marL="342900" marR="0" lvl="0" indent="-342900">
              <a:lnSpc>
                <a:spcPct val="100000"/>
              </a:lnSpc>
              <a:spcAft>
                <a:spcPts val="1000"/>
              </a:spcAft>
              <a:buFont typeface="+mj-lt"/>
              <a:buAutoNum type="arabicPeriod"/>
              <a:tabLst>
                <a:tab pos="923925" algn="l"/>
              </a:tabLst>
            </a:pPr>
            <a:r>
              <a:rPr lang="en-IN" sz="1800" dirty="0">
                <a:effectLst/>
                <a:latin typeface="+mn-lt"/>
                <a:ea typeface="MS Mincho" panose="02020609040205080304" pitchFamily="49" charset="-128"/>
                <a:cs typeface="Times New Roman" panose="02020603050405020304" pitchFamily="18" charset="0"/>
              </a:rPr>
              <a:t>Scikit-learn Documentation</a:t>
            </a:r>
            <a:endParaRPr lang="en-US" sz="1800" dirty="0">
              <a:effectLst/>
              <a:latin typeface="+mn-lt"/>
              <a:ea typeface="MS Mincho" panose="02020609040205080304" pitchFamily="49" charset="-128"/>
              <a:cs typeface="Times New Roman" panose="02020603050405020304" pitchFamily="18" charset="0"/>
            </a:endParaRPr>
          </a:p>
          <a:p>
            <a:pPr marL="342900" marR="0" lvl="0" indent="-342900">
              <a:lnSpc>
                <a:spcPct val="100000"/>
              </a:lnSpc>
              <a:spcAft>
                <a:spcPts val="1000"/>
              </a:spcAft>
              <a:buFont typeface="+mj-lt"/>
              <a:buAutoNum type="arabicPeriod"/>
              <a:tabLst>
                <a:tab pos="923925" algn="l"/>
              </a:tabLst>
            </a:pPr>
            <a:r>
              <a:rPr lang="en-IN" sz="1800" dirty="0">
                <a:effectLst/>
                <a:latin typeface="+mn-lt"/>
                <a:ea typeface="MS Mincho" panose="02020609040205080304" pitchFamily="49" charset="-128"/>
                <a:cs typeface="Times New Roman" panose="02020603050405020304" pitchFamily="18" charset="0"/>
              </a:rPr>
              <a:t>Power BI Documentation</a:t>
            </a:r>
            <a:endParaRPr lang="en-US" sz="1800" dirty="0">
              <a:effectLst/>
              <a:latin typeface="+mn-lt"/>
              <a:ea typeface="MS Mincho" panose="02020609040205080304" pitchFamily="49" charset="-128"/>
              <a:cs typeface="Times New Roman" panose="02020603050405020304" pitchFamily="18" charset="0"/>
            </a:endParaRPr>
          </a:p>
          <a:p>
            <a:pPr marL="342900" marR="0" lvl="0" indent="-342900">
              <a:lnSpc>
                <a:spcPct val="100000"/>
              </a:lnSpc>
              <a:spcAft>
                <a:spcPts val="1000"/>
              </a:spcAft>
              <a:buFont typeface="+mj-lt"/>
              <a:buAutoNum type="arabicPeriod"/>
              <a:tabLst>
                <a:tab pos="923925" algn="l"/>
              </a:tabLst>
            </a:pPr>
            <a:r>
              <a:rPr lang="en-IN" sz="1800" dirty="0" err="1">
                <a:effectLst/>
                <a:latin typeface="+mn-lt"/>
                <a:ea typeface="MS Mincho" panose="02020609040205080304" pitchFamily="49" charset="-128"/>
                <a:cs typeface="Times New Roman" panose="02020603050405020304" pitchFamily="18" charset="0"/>
              </a:rPr>
              <a:t>Streamlit</a:t>
            </a:r>
            <a:r>
              <a:rPr lang="en-IN" sz="1800" dirty="0">
                <a:effectLst/>
                <a:latin typeface="+mn-lt"/>
                <a:ea typeface="MS Mincho" panose="02020609040205080304" pitchFamily="49" charset="-128"/>
                <a:cs typeface="Times New Roman" panose="02020603050405020304" pitchFamily="18" charset="0"/>
              </a:rPr>
              <a:t> Documentation, if used</a:t>
            </a:r>
            <a:endParaRPr lang="en-US" sz="1800" dirty="0">
              <a:effectLst/>
              <a:latin typeface="+mn-lt"/>
              <a:ea typeface="MS Mincho" panose="02020609040205080304" pitchFamily="49" charset="-128"/>
              <a:cs typeface="Times New Roman" panose="02020603050405020304" pitchFamily="18" charset="0"/>
            </a:endParaRPr>
          </a:p>
          <a:p>
            <a:pPr marL="342900" marR="0" lvl="0" indent="-342900">
              <a:lnSpc>
                <a:spcPct val="100000"/>
              </a:lnSpc>
              <a:spcAft>
                <a:spcPts val="1000"/>
              </a:spcAft>
              <a:buFont typeface="+mj-lt"/>
              <a:buAutoNum type="arabicPeriod"/>
              <a:tabLst>
                <a:tab pos="923925" algn="l"/>
              </a:tabLst>
            </a:pPr>
            <a:r>
              <a:rPr lang="en-IN" sz="1800" dirty="0" err="1">
                <a:effectLst/>
                <a:latin typeface="+mn-lt"/>
                <a:ea typeface="MS Mincho" panose="02020609040205080304" pitchFamily="49" charset="-128"/>
                <a:cs typeface="Times New Roman" panose="02020603050405020304" pitchFamily="18" charset="0"/>
              </a:rPr>
              <a:t>FastAPI</a:t>
            </a:r>
            <a:r>
              <a:rPr lang="en-IN" sz="1800" dirty="0">
                <a:effectLst/>
                <a:latin typeface="+mn-lt"/>
                <a:ea typeface="MS Mincho" panose="02020609040205080304" pitchFamily="49" charset="-128"/>
                <a:cs typeface="Times New Roman" panose="02020603050405020304" pitchFamily="18" charset="0"/>
              </a:rPr>
              <a:t> Documentation, if used</a:t>
            </a:r>
            <a:endParaRPr lang="en-US" dirty="0">
              <a:ea typeface="MS Mincho" panose="02020609040205080304" pitchFamily="49" charset="-128"/>
              <a:cs typeface="Times New Roman" panose="02020603050405020304" pitchFamily="18" charset="0"/>
            </a:endParaRPr>
          </a:p>
          <a:p>
            <a:pPr marL="342900" marR="0" lvl="0" indent="-342900">
              <a:lnSpc>
                <a:spcPct val="100000"/>
              </a:lnSpc>
              <a:spcAft>
                <a:spcPts val="1000"/>
              </a:spcAft>
              <a:buFont typeface="+mj-lt"/>
              <a:buAutoNum type="arabicPeriod"/>
              <a:tabLst>
                <a:tab pos="923925" algn="l"/>
              </a:tabLst>
            </a:pPr>
            <a:r>
              <a:rPr lang="en-IN" sz="1800" dirty="0">
                <a:effectLst/>
                <a:latin typeface="+mn-lt"/>
                <a:ea typeface="MS Mincho" panose="02020609040205080304" pitchFamily="49" charset="-128"/>
                <a:cs typeface="Times New Roman" panose="02020603050405020304" pitchFamily="18" charset="0"/>
              </a:rPr>
              <a:t>Dataset source used for the project</a:t>
            </a:r>
            <a:endParaRPr lang="en-US" dirty="0"/>
          </a:p>
        </p:txBody>
      </p:sp>
    </p:spTree>
    <p:extLst>
      <p:ext uri="{BB962C8B-B14F-4D97-AF65-F5344CB8AC3E}">
        <p14:creationId xmlns:p14="http://schemas.microsoft.com/office/powerpoint/2010/main" val="3540515983"/>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{E94E3953-592E-4259-9D42-AABAA0746CBB}TFc3084226-2d0c-440f-9f46-6b48c7a7f670e6ba4a85-fc4a2881d6b3</Template>
  <TotalTime>57</TotalTime>
  <Words>1327</Words>
  <Application>Microsoft Office PowerPoint</Application>
  <PresentationFormat>Widescreen</PresentationFormat>
  <Paragraphs>340</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MS Gothic</vt:lpstr>
      <vt:lpstr>MS Mincho</vt:lpstr>
      <vt:lpstr>Arial</vt:lpstr>
      <vt:lpstr>Franklin Gothic Book</vt:lpstr>
      <vt:lpstr>Symbol</vt:lpstr>
      <vt:lpstr>Crop</vt:lpstr>
      <vt:lpstr>FINAL INTERNSHIP PROJECT REPORT </vt:lpstr>
      <vt:lpstr>PowerPoint Presentation</vt:lpstr>
      <vt:lpstr>PowerPoint Presentation</vt:lpstr>
      <vt:lpstr>PowerPoint Presentation</vt:lpstr>
      <vt:lpstr>PowerPoint Presentation</vt:lpstr>
      <vt:lpstr>Dataset Collection &amp; Understanding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sahilimahankar20@outlook.com</dc:creator>
  <cp:lastModifiedBy>sahilimahankar20@outlook.com</cp:lastModifiedBy>
  <cp:revision>1</cp:revision>
  <dcterms:created xsi:type="dcterms:W3CDTF">2026-09-07T08:17:32Z</dcterms:created>
  <dcterms:modified xsi:type="dcterms:W3CDTF">2026-09-07T09:15:13Z</dcterms:modified>
</cp:coreProperties>
</file>